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91440" cy="320040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749808"/>
            <a:ext cx="6217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4:</a:t>
            </a:r>
            <a:endParaRPr lang="en-US" sz="4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Day</a:t>
            </a:r>
            <a:endParaRPr lang="en-US" sz="4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Certification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13232" y="413308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demos  ·  Architecture critique  ·  Cohort retro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 ·  Resource handoff  ·  What's next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Demo Day + Certification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Running Order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019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 demo + 5 min Q&amp;A per team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188720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5727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Critique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9019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peer feedback on system design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50592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50592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420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Retro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1638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worked, what to improve next time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450592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450592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5420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1638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earned across all four days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712464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712464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8039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40965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Handoff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44256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templates, checklists, links to keep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712464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3712464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8039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40965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37760" y="44256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30-day action plan after today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Demo Day + Certification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Today Celebrates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011680" cy="2340864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424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3502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1865376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prompts, structured output, few-shot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33472" y="1005840"/>
            <a:ext cx="2011680" cy="2340864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33472" y="10424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33472" y="133502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43200" y="1865376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Code, agentic loops, context windows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09744" y="1005840"/>
            <a:ext cx="2011680" cy="2340864"/>
          </a:xfrm>
          <a:prstGeom prst="rect">
            <a:avLst/>
          </a:prstGeom>
          <a:solidFill>
            <a:srgbClr val="CC5A1F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10424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9744" y="133502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919472" y="1865376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resources, orchestration, parallel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86016" y="1005840"/>
            <a:ext cx="2011680" cy="2340864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86016" y="10424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86016" y="133502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095744" y="1865376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Reliability, evals, CI gate, full capstone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50976" y="2633472"/>
            <a:ext cx="7022592" cy="54864"/>
          </a:xfrm>
          <a:prstGeom prst="rect">
            <a:avLst/>
          </a:prstGeom>
          <a:solidFill>
            <a:srgbClr val="E8D5BF"/>
          </a:solidFill>
          <a:ln w="12700">
            <a:solidFill>
              <a:srgbClr val="E8D5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25296" y="2432304"/>
            <a:ext cx="475488" cy="47548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25296" y="24323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401568" y="2432304"/>
            <a:ext cx="475488" cy="47548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01568" y="24323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577840" y="2432304"/>
            <a:ext cx="475488" cy="47548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24323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754112" y="2432304"/>
            <a:ext cx="475488" cy="47548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54112" y="24323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" y="3163824"/>
            <a:ext cx="8229600" cy="1243584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163824"/>
            <a:ext cx="64008" cy="124358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3218688"/>
            <a:ext cx="7818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days. Four layers. One complete production stack.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58368" y="3639312"/>
            <a:ext cx="7818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every primitive needed to design, build, test, and ship a Claude-powered agent.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Demo Day + Certification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197510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53312"/>
            <a:ext cx="6217920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to demo + 5 minutes of Q&amp;A per team.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Demo Day + Certification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 — RUNNING ORDER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Slots — 10 Minutes Per Team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49808"/>
          </a:xfrm>
          <a:prstGeom prst="rect">
            <a:avLst/>
          </a:prstGeom>
          <a:solidFill>
            <a:srgbClr val="FAF5EE"/>
          </a:solidFill>
          <a:ln w="9525">
            <a:solidFill>
              <a:srgbClr val="E8D5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1371600" cy="749808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0789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0:05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3898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29000" y="10789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0:05 – 0:10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0" y="13898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12070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+ live tool call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01952"/>
            <a:ext cx="8229600" cy="749808"/>
          </a:xfrm>
          <a:prstGeom prst="rect">
            <a:avLst/>
          </a:prstGeom>
          <a:solidFill>
            <a:srgbClr val="E8D5BF"/>
          </a:solidFill>
          <a:ln w="9525">
            <a:solidFill>
              <a:srgbClr val="E8D5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01952"/>
            <a:ext cx="1371600" cy="749808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01952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19751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 – 0:15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2286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19751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 – 0:20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29000" y="2286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21031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+ live tool call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798064"/>
            <a:ext cx="8229600" cy="749808"/>
          </a:xfrm>
          <a:prstGeom prst="rect">
            <a:avLst/>
          </a:prstGeom>
          <a:solidFill>
            <a:srgbClr val="FAF5EE"/>
          </a:solidFill>
          <a:ln w="9525">
            <a:solidFill>
              <a:srgbClr val="E8D5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798064"/>
            <a:ext cx="1371600" cy="749808"/>
          </a:xfrm>
          <a:prstGeom prst="rect">
            <a:avLst/>
          </a:prstGeom>
          <a:solidFill>
            <a:srgbClr val="CC5A1F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798064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28712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0:20 – 0:25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20240" y="31821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29000" y="28712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0:25 – 0:30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29000" y="31821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29992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+ live tool call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694176"/>
            <a:ext cx="8229600" cy="749808"/>
          </a:xfrm>
          <a:prstGeom prst="rect">
            <a:avLst/>
          </a:prstGeom>
          <a:solidFill>
            <a:srgbClr val="E8D5BF"/>
          </a:solidFill>
          <a:ln w="9525">
            <a:solidFill>
              <a:srgbClr val="E8D5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694176"/>
            <a:ext cx="1371600" cy="749808"/>
          </a:xfrm>
          <a:prstGeom prst="rect">
            <a:avLst/>
          </a:prstGeom>
          <a:solidFill>
            <a:srgbClr val="CC5A1F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694176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920240" y="37673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 – 0:35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920240" y="407822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29000" y="37673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0:35 – 0:40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29000" y="407822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0" y="389534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+ live tool call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645152"/>
            <a:ext cx="8229600" cy="36576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645152"/>
            <a:ext cx="64008" cy="36576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4645152"/>
            <a:ext cx="7818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2-min warning at 3:00  ·  Hard stop at 5:00  ·  Q&amp;A: one question per person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 — SCORING RUBRIC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a Great Demo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score each dimension 1–3 on your own. Share at Q&amp;A time.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1920240" cy="347472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1261872"/>
            <a:ext cx="1956816" cy="347472"/>
          </a:xfrm>
          <a:prstGeom prst="rect">
            <a:avLst/>
          </a:prstGeom>
          <a:solidFill>
            <a:srgbClr val="3A1A0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1261872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WEAK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34256" y="1261872"/>
            <a:ext cx="1956816" cy="347472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34256" y="1261872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GOOD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91072" y="1261872"/>
            <a:ext cx="1956816" cy="347472"/>
          </a:xfrm>
          <a:prstGeom prst="rect">
            <a:avLst/>
          </a:prstGeom>
          <a:solidFill>
            <a:srgbClr val="CC5A1F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91072" y="1261872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EXCELLENT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609344"/>
            <a:ext cx="1920240" cy="512064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609344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clarity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77440" y="1609344"/>
            <a:ext cx="1956816" cy="512064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1609344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or assumed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34256" y="1609344"/>
            <a:ext cx="1956816" cy="512064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25696" y="1609344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pain described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91072" y="1609344"/>
            <a:ext cx="1956816" cy="512064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1609344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Compelling, relatable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194560"/>
            <a:ext cx="1920240" cy="512064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194560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quality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77440" y="2194560"/>
            <a:ext cx="1956816" cy="512064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8880" y="2194560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reading only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34256" y="2194560"/>
            <a:ext cx="1956816" cy="512064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25696" y="2194560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agent call shown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91072" y="2194560"/>
            <a:ext cx="1956816" cy="512064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2512" y="2194560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visible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2779776"/>
            <a:ext cx="1920240" cy="512064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2779776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shown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377440" y="2779776"/>
            <a:ext cx="1956816" cy="512064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2779776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shown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334256" y="2779776"/>
            <a:ext cx="1956816" cy="512064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25696" y="2779776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one snippet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91072" y="2779776"/>
            <a:ext cx="1956816" cy="512064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82512" y="2779776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a key design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3364992"/>
            <a:ext cx="1920240" cy="512064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364992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cited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377440" y="3364992"/>
            <a:ext cx="1956816" cy="512064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68880" y="3364992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metrics at all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334256" y="3364992"/>
            <a:ext cx="1956816" cy="512064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25696" y="3364992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Mentions eval score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91072" y="3364992"/>
            <a:ext cx="1956816" cy="512064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82512" y="3364992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latency + rate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3950208"/>
            <a:ext cx="1920240" cy="512064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3950208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377440" y="3950208"/>
            <a:ext cx="1956816" cy="512064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68880" y="3950208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mentioned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334256" y="3950208"/>
            <a:ext cx="1956816" cy="512064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25696" y="3950208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vague idea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91072" y="3950208"/>
            <a:ext cx="1956816" cy="512064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82512" y="3950208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scoped feature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Score privately first — then share. Unanchored group discussion drifts toward the loudest voice.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Demo Day + Certification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 — Q&amp;A FACILITATION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Give and Get Q&amp;A Feedback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56616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402336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AUDIENCE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517904"/>
            <a:ext cx="50292" cy="65836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3619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a specific observation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8105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 noticed your agent called get_weather three times — intentional?'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286000"/>
            <a:ext cx="50292" cy="65836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30428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a trade-off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57860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'Why did you choose sequential over parallel for the summarise step?'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3054096"/>
            <a:ext cx="50292" cy="65836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7238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Suggest, don't prescribe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34670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'Have you considered caching the news fetch to cut latency?'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3822192"/>
            <a:ext cx="50292" cy="65836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84048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per person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1148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space for others. Follow-ups belong in the break, not Q&amp;A.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005840"/>
            <a:ext cx="4023360" cy="356616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005840"/>
            <a:ext cx="4023360" cy="402336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00584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PRESENTER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73168" y="1517904"/>
            <a:ext cx="50292" cy="65836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53619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Restate before answering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18105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'Great question — you're asking about why we chose X...'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73168" y="2286000"/>
            <a:ext cx="50292" cy="65836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30428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OK to say 'we didn't'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25786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'We didn't handle that case — good catch, here's how we'd fix it.'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73168" y="3054096"/>
            <a:ext cx="50292" cy="65836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07238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answers to 60 seconds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2040" y="33467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answer, give one reason. Stop. Let it land.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73168" y="3822192"/>
            <a:ext cx="50292" cy="65836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84048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every question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41148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Post-session analysis beats in-the-moment justification.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Demo Day + Certification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197510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53312"/>
            <a:ext cx="6217920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Critique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feedback on each team's design decisions.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Demo Day + Certification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CRITIQUE —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Architecture Critique Framework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1005840"/>
            <a:ext cx="2697480" cy="402336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00584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408176"/>
            <a:ext cx="2697480" cy="329184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536192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1792224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system prompt layered? Persona → tools → format → limits?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295144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322576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granularity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" y="2578608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tools focused? One verb, one action, one return type?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081528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3108960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layer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" y="3364992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every API call wrapped? Does the loop have a MAX_TURNS cap?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867912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895344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coverage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6072" y="4151376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suite cover correctness, safety, and performance?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82112" y="1005840"/>
            <a:ext cx="2697480" cy="402336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82112" y="100584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FOR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82112" y="1408176"/>
            <a:ext cx="2697480" cy="329184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1508760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0712" y="1536192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bloat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10712" y="1792224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&gt; 1 page often create confused behaviour.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91840" y="2295144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0712" y="2322576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failures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10712" y="2578608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try/except around tools = one timeout crashes the agent.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91840" y="3081528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10712" y="3108960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fallback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10712" y="3364992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messages.create() without retries is a production risk.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91840" y="3867912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3895344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evals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10712" y="4151376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correctness cases ≠ a balanced suite. Safety cases matter most.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16752" y="1005840"/>
            <a:ext cx="2697480" cy="402336"/>
          </a:xfrm>
          <a:prstGeom prst="rect">
            <a:avLst/>
          </a:prstGeom>
          <a:solidFill>
            <a:srgbClr val="3A1A08"/>
          </a:solidFill>
          <a:ln w="12700">
            <a:solidFill>
              <a:srgbClr val="3A1A0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16752" y="100584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ASK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16752" y="1408176"/>
            <a:ext cx="2697480" cy="329184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1508760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45352" y="1536192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sequential?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45352" y="1792224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any two tools in this flow run in parallel?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26480" y="2295144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45352" y="2322576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 first?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45352" y="2578608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most likely failure mode in production?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126480" y="3081528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45352" y="3108960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this?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245352" y="3364992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one clear owner per layer in the codebase?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126480" y="3867912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45352" y="3895344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test?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245352" y="4151376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know if a prompt change broke something?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Demo Day + Certification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CRITIQUE — LIVE TEMPLATE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Critique Template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template as you watch each demo. Fill in specifics, not generics.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43000"/>
            <a:ext cx="7863840" cy="3392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WHAT WORKS
</a:t>
            </a:r>
            <a:pPr indent="0" marL="0">
              <a:buNone/>
            </a:pP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strengths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"&lt;specific thing that worked and why&gt;",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</a:t>
            </a:r>
            <a:pPr indent="0" marL="0">
              <a:buNone/>
            </a:pP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WATCH OUT FOR
</a:t>
            </a:r>
            <a:pPr indent="0" marL="0">
              <a:buNone/>
            </a:pP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risks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"&lt;specific risk or gap observed&gt;",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ONE QUESTION
</a:t>
            </a:r>
            <a:pPr indent="0" marL="0">
              <a:buNone/>
            </a:pP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"Why did you choose &lt;X&gt; over &lt;Y&gt;? "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"What would you do differently next sprint?"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SCORE (1 = weak · 2 = good · 3 = excellent)
</a:t>
            </a:r>
            <a:pPr indent="0" marL="0">
              <a:buNone/>
            </a:pP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"problem_clarity"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__,  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"demo_quality"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__,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"code_shown"   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__,  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"numbers_cited"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__,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"whats_next"   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__  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 dimensions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total / 15 — great ≥ 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Specifics = useful feedback. 'Good demo' = wasted feedback slot.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Demo Day + Certification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197510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53312"/>
            <a:ext cx="6217920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Cohort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Retro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patterns appeared across all teams? What to do differently?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Demo Day + Certification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RETRO — FORMAT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15-Minute Cohort Retro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04672" cy="713232"/>
          </a:xfrm>
          <a:prstGeom prst="rect">
            <a:avLst/>
          </a:prstGeom>
          <a:solidFill>
            <a:srgbClr val="3A1A0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04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25880" y="1280160"/>
            <a:ext cx="7388352" cy="36576"/>
          </a:xfrm>
          <a:prstGeom prst="rect">
            <a:avLst/>
          </a:prstGeom>
          <a:solidFill>
            <a:srgbClr val="E8D5BF"/>
          </a:solidFill>
          <a:ln w="12700">
            <a:solidFill>
              <a:srgbClr val="E8D5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051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surprised you?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389888"/>
            <a:ext cx="7296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from the four days you didn't expect. No judgment.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83664"/>
            <a:ext cx="804672" cy="713232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83664"/>
            <a:ext cx="804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25880" y="2157984"/>
            <a:ext cx="7388352" cy="36576"/>
          </a:xfrm>
          <a:prstGeom prst="rect">
            <a:avLst/>
          </a:prstGeom>
          <a:solidFill>
            <a:srgbClr val="E8D5BF"/>
          </a:solidFill>
          <a:ln w="12700">
            <a:solidFill>
              <a:srgbClr val="E8D5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19293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broke first?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2267712"/>
            <a:ext cx="7296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failure mode across all teams. Trainer tallies.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61488"/>
            <a:ext cx="804672" cy="713232"/>
          </a:xfrm>
          <a:prstGeom prst="rect">
            <a:avLst/>
          </a:prstGeom>
          <a:solidFill>
            <a:srgbClr val="CC5A1F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61488"/>
            <a:ext cx="804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325880" y="3035808"/>
            <a:ext cx="7388352" cy="36576"/>
          </a:xfrm>
          <a:prstGeom prst="rect">
            <a:avLst/>
          </a:prstGeom>
          <a:solidFill>
            <a:srgbClr val="E8D5BF"/>
          </a:solidFill>
          <a:ln w="12700">
            <a:solidFill>
              <a:srgbClr val="E8D5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28072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do differently?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3145536"/>
            <a:ext cx="7296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concrete change for your next Claude project.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39312"/>
            <a:ext cx="804672" cy="713232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39312"/>
            <a:ext cx="804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325880" y="3913632"/>
            <a:ext cx="7388352" cy="36576"/>
          </a:xfrm>
          <a:prstGeom prst="rect">
            <a:avLst/>
          </a:prstGeom>
          <a:solidFill>
            <a:srgbClr val="E8D5BF"/>
          </a:solidFill>
          <a:ln w="12700">
            <a:solidFill>
              <a:srgbClr val="E8D5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7320" y="36850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you build next?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4023360"/>
            <a:ext cx="7296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 Ship something real in the next 30 days.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553712"/>
            <a:ext cx="8229600" cy="384048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553712"/>
            <a:ext cx="64008" cy="38404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553712"/>
            <a:ext cx="7818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rule: talk about your own experience. Not 'team X should have...' but 'I wish I had...'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Demo Day + Certification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RETRO — PATTERNS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Patterns the Trainer Will Share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patterns appear in almost every cohort. Knowing them shortens the next project's learning curve.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694944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91440" cy="69494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481328"/>
            <a:ext cx="292608" cy="29260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4813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0704" y="13533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grew too fast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0704" y="1627632"/>
            <a:ext cx="7150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added instructions reactively — the prompt became a kitchen sink. Fix: start minimal, test before adding.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21408"/>
            <a:ext cx="8229600" cy="694944"/>
          </a:xfrm>
          <a:prstGeom prst="rect">
            <a:avLst/>
          </a:prstGeom>
          <a:solidFill>
            <a:srgbClr val="4A2C1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121408"/>
            <a:ext cx="91440" cy="69494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2322576"/>
            <a:ext cx="292608" cy="29260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3225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60704" y="219456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written last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60704" y="2468880"/>
            <a:ext cx="7150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evals after the agent was 'done' felt like testing vs building. Fix: write 5 cases on Day 1 of a project.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62656"/>
            <a:ext cx="8229600" cy="694944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62656"/>
            <a:ext cx="91440" cy="69494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163824"/>
            <a:ext cx="292608" cy="29260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1638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0704" y="303580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too broad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60704" y="3310128"/>
            <a:ext cx="7150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Multi-action tools confused Claude about when to call them. Fix: one verb, one action, one return type.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803904"/>
            <a:ext cx="8229600" cy="694944"/>
          </a:xfrm>
          <a:prstGeom prst="rect">
            <a:avLst/>
          </a:prstGeom>
          <a:solidFill>
            <a:srgbClr val="4A2C1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803904"/>
            <a:ext cx="91440" cy="69494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4005072"/>
            <a:ext cx="292608" cy="29260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0050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0704" y="387705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added late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60704" y="4151376"/>
            <a:ext cx="7150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fallbacks after the loop was 'working' caused integration bugs. Fix: scaffold reliability before tool logic.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Demo Day + Certification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98755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53312"/>
            <a:ext cx="62179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Certification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2414016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Recognising the skills you've earned across all four days.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Demo Day + Certification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— SKILLS EARNED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Skills Inventory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1005840"/>
            <a:ext cx="2011680" cy="402336"/>
          </a:xfrm>
          <a:prstGeom prst="rect">
            <a:avLst/>
          </a:prstGeom>
          <a:solidFill>
            <a:srgbClr val="3A1A08"/>
          </a:solidFill>
          <a:ln w="12700">
            <a:solidFill>
              <a:srgbClr val="3A1A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00584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408176"/>
            <a:ext cx="2011680" cy="3054096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17904"/>
            <a:ext cx="17922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system prompts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21408"/>
            <a:ext cx="1792224" cy="0"/>
          </a:xfrm>
          <a:prstGeom prst="line">
            <a:avLst/>
          </a:prstGeom>
          <a:noFill/>
          <a:ln w="6350">
            <a:solidFill>
              <a:srgbClr val="4A2C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31136"/>
            <a:ext cx="17922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 control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1792224" cy="0"/>
          </a:xfrm>
          <a:prstGeom prst="line">
            <a:avLst/>
          </a:prstGeom>
          <a:noFill/>
          <a:ln w="6350">
            <a:solidFill>
              <a:srgbClr val="4A2C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44368"/>
            <a:ext cx="17922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output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47872"/>
            <a:ext cx="1792224" cy="0"/>
          </a:xfrm>
          <a:prstGeom prst="line">
            <a:avLst/>
          </a:prstGeom>
          <a:noFill/>
          <a:ln w="6350">
            <a:solidFill>
              <a:srgbClr val="4A2C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657600"/>
            <a:ext cx="17922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+ CoT prompting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23744" y="1005840"/>
            <a:ext cx="2011680" cy="402336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23744" y="100584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23744" y="1408176"/>
            <a:ext cx="2011680" cy="3054096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33472" y="1517904"/>
            <a:ext cx="17922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 design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33472" y="2121408"/>
            <a:ext cx="1792224" cy="0"/>
          </a:xfrm>
          <a:prstGeom prst="line">
            <a:avLst/>
          </a:prstGeom>
          <a:noFill/>
          <a:ln w="6350">
            <a:solidFill>
              <a:srgbClr val="4A2C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33472" y="2231136"/>
            <a:ext cx="17922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+ parsing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33472" y="2834640"/>
            <a:ext cx="1792224" cy="0"/>
          </a:xfrm>
          <a:prstGeom prst="line">
            <a:avLst/>
          </a:prstGeom>
          <a:noFill/>
          <a:ln w="6350">
            <a:solidFill>
              <a:srgbClr val="4A2C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33472" y="2944368"/>
            <a:ext cx="17922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history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33472" y="3547872"/>
            <a:ext cx="1792224" cy="0"/>
          </a:xfrm>
          <a:prstGeom prst="line">
            <a:avLst/>
          </a:prstGeom>
          <a:noFill/>
          <a:ln w="6350">
            <a:solidFill>
              <a:srgbClr val="4A2C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33472" y="3657600"/>
            <a:ext cx="17922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management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0016" y="1005840"/>
            <a:ext cx="2011680" cy="402336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100584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0016" y="1408176"/>
            <a:ext cx="2011680" cy="3054096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1517904"/>
            <a:ext cx="17922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 server build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9744" y="2121408"/>
            <a:ext cx="1792224" cy="0"/>
          </a:xfrm>
          <a:prstGeom prst="line">
            <a:avLst/>
          </a:prstGeom>
          <a:noFill/>
          <a:ln w="6350">
            <a:solidFill>
              <a:srgbClr val="4A2C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9744" y="2231136"/>
            <a:ext cx="17922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+ resources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9744" y="2834640"/>
            <a:ext cx="1792224" cy="0"/>
          </a:xfrm>
          <a:prstGeom prst="line">
            <a:avLst/>
          </a:prstGeom>
          <a:noFill/>
          <a:ln w="6350">
            <a:solidFill>
              <a:srgbClr val="4A2C1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2944368"/>
            <a:ext cx="17922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asyncio calls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9744" y="3547872"/>
            <a:ext cx="1792224" cy="0"/>
          </a:xfrm>
          <a:prstGeom prst="line">
            <a:avLst/>
          </a:prstGeom>
          <a:noFill/>
          <a:ln w="6350">
            <a:solidFill>
              <a:srgbClr val="4A2C1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9744" y="3657600"/>
            <a:ext cx="17922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 connect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76288" y="1005840"/>
            <a:ext cx="2011680" cy="402336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76288" y="100584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76288" y="1408176"/>
            <a:ext cx="2011680" cy="3054096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86016" y="1517904"/>
            <a:ext cx="17922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chain design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986016" y="2121408"/>
            <a:ext cx="1792224" cy="0"/>
          </a:xfrm>
          <a:prstGeom prst="line">
            <a:avLst/>
          </a:prstGeom>
          <a:noFill/>
          <a:ln w="6350">
            <a:solidFill>
              <a:srgbClr val="4A2C1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86016" y="2231136"/>
            <a:ext cx="17922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logging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986016" y="2834640"/>
            <a:ext cx="1792224" cy="0"/>
          </a:xfrm>
          <a:prstGeom prst="line">
            <a:avLst/>
          </a:prstGeom>
          <a:noFill/>
          <a:ln w="6350">
            <a:solidFill>
              <a:srgbClr val="4A2C1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86016" y="2944368"/>
            <a:ext cx="17922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EvalCase suite + CI gate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986016" y="3547872"/>
            <a:ext cx="1792224" cy="0"/>
          </a:xfrm>
          <a:prstGeom prst="line">
            <a:avLst/>
          </a:prstGeom>
          <a:noFill/>
          <a:ln w="6350">
            <a:solidFill>
              <a:srgbClr val="4A2C1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86016" y="3657600"/>
            <a:ext cx="17922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+ observability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4572000"/>
            <a:ext cx="64008" cy="38404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" y="4572000"/>
            <a:ext cx="7818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skills across 4 pillars. Each one directly applicable in a production Claude project.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— LEVELS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Ecosystem Certification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is earned by demonstrating skills — not just attending.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969264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61872"/>
            <a:ext cx="1645920" cy="969264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1673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◈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77393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35331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BY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0" y="1536192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days attended, capstone demo delivered.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286000" y="18288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0" y="1975104"/>
            <a:ext cx="6126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build and prompt a working Claude-powered agent.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969264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77440"/>
            <a:ext cx="1645920" cy="9692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3230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◉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7200" y="288950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24688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BY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86000" y="2651760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passes CI at ≥ 90% + reliability layer wired.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286000" y="29443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3090672"/>
            <a:ext cx="6126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ship a production-safe agent with evals and fallbacks.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93008"/>
            <a:ext cx="8229600" cy="969264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493008"/>
            <a:ext cx="1645920" cy="969264"/>
          </a:xfrm>
          <a:prstGeom prst="rect">
            <a:avLst/>
          </a:prstGeom>
          <a:solidFill>
            <a:srgbClr val="3A1A08"/>
          </a:solidFill>
          <a:ln w="12700">
            <a:solidFill>
              <a:srgbClr val="3A1A0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54787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◆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57200" y="400507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35844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BY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3767328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critique delivered + patterns session led.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286000" y="405993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86000" y="4206240"/>
            <a:ext cx="6126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review and improve another team's agent architecture.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Print the cert, put it in your profile, and link to your capstone repo as evidence.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Demo Day + Certification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197510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53312"/>
            <a:ext cx="6217920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Handoff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templates, checklists, and links to take with you.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Demo Day + Certification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HANDOFF — CODE TEMPLATES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Templates to Take Home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reusable modules — copy into any new Claude project and customise.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61872"/>
            <a:ext cx="7863840" cy="3273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YOUR CLAUDE STARTER KIT ────────────────────────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claude_kit/
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prompts.py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SYSTEM_PROMPT template (Day 1)
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server.py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FastMCP skeleton + @mcp.tool() (Day 3)
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agent.py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run_agent() + TOOL_FNS + agent loop (Day 3)
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reliability.py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call_with_fallback + call_logged (Day 4)
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metrics.py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Metrics class + error_rate (Day 4)
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evals.py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EvalCase + SUITE + run_suite (Day 4)
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ci_eval.py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regression gate + baseline.json (Day 4)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REFERENCE LINKS ────────────────────────────────
</a:t>
            </a:r>
            <a:pPr indent="0" marL="0">
              <a:buNone/>
            </a:pP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"docs.anthropic.com/en/docs/agents",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"docs.anthropic.com/en/docs/mcp",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"github.com/modelcontextprotocol/python-sdk",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"docs.anthropic.com/en/api/messages",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CHECKLISTS ─────────────────────────────────────
</a:t>
            </a:r>
            <a:pPr indent="0" marL="0">
              <a:buNone/>
            </a:pPr>
            <a:r>
              <a:rPr lang="en-US" sz="1000" i="1" dirty="0">
                <a:solidFill>
                  <a:srgbClr val="A08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new_project.md  — prompt + tools + loop + reliability
</a:t>
            </a:r>
            <a:pPr indent="0" marL="0">
              <a:buNone/>
            </a:pPr>
            <a:r>
              <a:rPr lang="en-US" sz="1000" i="1" dirty="0">
                <a:solidFill>
                  <a:srgbClr val="A08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before_deploy.md — evals pass, CI green, docs done
</a:t>
            </a:r>
            <a:pPr indent="0" marL="0">
              <a:buNone/>
            </a:pPr>
            <a:r>
              <a:rPr lang="en-US" sz="1000" i="1" dirty="0">
                <a:solidFill>
                  <a:srgbClr val="A08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code_review.md  — prompt, tools, loop, reliability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Add claude_kit/ to your company's internal repo. Onboard the next engineer in 30 minutes.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Demo Day + Certification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HANDOFF — WHAT'S NEXT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30-Day Action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07899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9436" cy="10789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347472"/>
          </a:xfrm>
          <a:prstGeom prst="rect">
            <a:avLst/>
          </a:prstGeom>
          <a:solidFill>
            <a:srgbClr val="3A1A08"/>
          </a:solidFill>
          <a:ln w="12700">
            <a:solidFill>
              <a:srgbClr val="3A1A0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Ship something small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1408176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real problem from your day job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1792" y="162763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2-tool agent in &lt; 4 hours using the starter kit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1792" y="1847088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5 eval cases and make CI pass before showing anyone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231136"/>
            <a:ext cx="3931920" cy="107899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231136"/>
            <a:ext cx="59436" cy="10789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31136"/>
            <a:ext cx="3931920" cy="3474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3113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Expand and harden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263347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2 more tools based on what real users actually needed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1792" y="2852928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reliability layer — fallback, logging, metrics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1792" y="3072384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eval suite to 15 cases and fix any regressions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456432"/>
            <a:ext cx="3931920" cy="107899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456432"/>
            <a:ext cx="59436" cy="10789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456432"/>
            <a:ext cx="3931920" cy="347472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4564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 — Share and iterate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" y="3858768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to one real stakeholder — record the Q&amp;A questions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1792" y="4078224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the system prompt based on what confused users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1792" y="4297680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short internal doc: problem, architecture, numbers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1005840"/>
            <a:ext cx="4023360" cy="3675888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11155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30-day success metrics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28032" y="1353312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
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"shipped"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 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</a:t>
            </a:r>
            <a:pPr indent="0" marL="0">
              <a:buNone/>
            </a:pPr>
            <a:r>
              <a:rPr lang="en-US" sz="9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not just built
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"ci_passes"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</a:t>
            </a:r>
            <a:pPr indent="0" marL="0">
              <a:buNone/>
            </a:pPr>
            <a:r>
              <a:rPr lang="en-US" sz="9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not just runs
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"user_saw_it"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</a:t>
            </a:r>
            <a:pPr indent="0" marL="0">
              <a:buNone/>
            </a:pPr>
            <a:r>
              <a:rPr lang="en-US" sz="9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not just you
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"wrote_doc"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</a:t>
            </a:r>
            <a:pPr indent="0" marL="0">
              <a:buNone/>
            </a:pPr>
            <a:r>
              <a:rPr lang="en-US" sz="9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not just code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pPr indent="0" marL="0">
              <a:buNone/>
            </a:pPr>
            <a:r>
              <a:rPr lang="en-US" sz="9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Week 1 checklist
</a:t>
            </a:r>
            <a:pPr indent="0" marL="0">
              <a:buNone/>
            </a:pPr>
            <a:r>
              <a:rPr lang="en-US" sz="9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week_1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
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"Choose a real problem",
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"Build the 2-tool agent",
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"Write 5 eval cases",
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"Make CI pass",
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"Show one person",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</a:t>
            </a:r>
            <a:pPr indent="0" marL="0">
              <a:buNone/>
            </a:pPr>
            <a:r>
              <a:rPr lang="en-US" sz="9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Done when all 5 are checked off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all(week_1), 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"Week 1 incomplete"
</a:t>
            </a:r>
            <a:pPr indent="0" marL="0">
              <a:buNone/>
            </a:pPr>
            <a:r>
              <a:rPr lang="en-US" sz="9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Week 2 checklist
</a:t>
            </a:r>
            <a:pPr indent="0" marL="0">
              <a:buNone/>
            </a:pPr>
            <a:r>
              <a:rPr lang="en-US" sz="9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week_2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
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"Add 2 tools from user feedback",
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"Wire fallback + logging",
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"Grow suite to 15 evals",
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"Fix any regressions",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</a:t>
            </a:r>
            <a:pPr indent="0" marL="0">
              <a:buNone/>
            </a:pPr>
            <a:r>
              <a:rPr lang="en-US" sz="9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all(week_2), </a:t>
            </a:r>
            <a:pPr indent="0" marL="0">
              <a:buNone/>
            </a:pPr>
            <a:r>
              <a:rPr lang="en-US" sz="9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"Week 2 incomplete"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Demo Day + Certification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87552" y="1024128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before you speak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13632" y="1024128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rubric privately first — it anchors group discussion.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28216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38528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87552" y="1773936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Specifics over generics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13632" y="1773936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'Tool A times out on city names with spaces' beats 'tools need work'.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78024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88336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2523744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Evals are the receipt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13632" y="2523744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passing CI run is how you prove the agent works — not your slide.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27832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" y="3273552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Week 1, not Week 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13632" y="3273552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part is the first real user. Get there in week one.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187952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87552" y="402336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kit is your template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13632" y="4023360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claude_kit/ is reusable. Every future Claude project starts there.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Demo Day + Certification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Congratulations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91440" cy="150876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170432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Built</a:t>
            </a:r>
            <a:endParaRPr lang="en-US" sz="4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Something</a:t>
            </a:r>
            <a:endParaRPr lang="en-US" sz="4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Real.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457200" y="2962656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9077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claude_kit/ starter and use it in a real project this week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419856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3649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internal doc — problem, architecture, eval score, numbers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877056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8221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 a teammate to attend the next cohort — teach what you know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334256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2793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 issue in the cohort repo: what should we add to Day 5?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Claude Ecosystem  ·  AI Training Series  ·  Day 4 — Demo Day + Certification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 – Demo Day + Certification</dc:title>
  <dc:subject>PptxGenJS Presentation</dc:subject>
  <dc:creator>PptxGenJS</dc:creator>
  <cp:lastModifiedBy>PptxGenJS</cp:lastModifiedBy>
  <cp:revision>1</cp:revision>
  <dcterms:created xsi:type="dcterms:W3CDTF">2026-05-12T15:01:21Z</dcterms:created>
  <dcterms:modified xsi:type="dcterms:W3CDTF">2026-05-12T15:01:21Z</dcterms:modified>
</cp:coreProperties>
</file>