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83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Cowork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Automation for Everyone — No Code Required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6700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 ·  File &amp; Task Automation  ·  Chrome  ·  Excel  ·  PowerPoint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514600" cy="566928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" y="3236976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Claude in Chrome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27248" y="3200400"/>
            <a:ext cx="2514600" cy="566928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27248" y="3200400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3236976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Claude in Excel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97296" y="3200400"/>
            <a:ext cx="2514600" cy="566928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797296" y="3200400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61888" y="3236976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📽  Claude in PowerPoint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4526280"/>
            <a:ext cx="8311896" cy="617220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45628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for non-developers  ·  Automate files, tasks &amp; workflows with natural language  · 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Claude Cowork?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 is a desktop application designed for non-developers — business users, analysts, managers, and knowledge workers — who want to automate file and task management using Claude AI without writing any code.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2148840"/>
            <a:ext cx="1938528" cy="1097280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2148840"/>
            <a:ext cx="109728" cy="10972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2304288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  Desktop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1700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&amp; Windows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2148840"/>
            <a:ext cx="1938528" cy="1097280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96312" y="2148840"/>
            <a:ext cx="109728" cy="10972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79192" y="2304288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👤  No 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79192" y="2670048"/>
            <a:ext cx="1700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only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81144" y="2148840"/>
            <a:ext cx="1938528" cy="1097280"/>
          </a:xfrm>
          <a:prstGeom prst="rect">
            <a:avLst/>
          </a:prstGeom>
          <a:solidFill>
            <a:srgbClr val="7A2E00"/>
          </a:solidFill>
          <a:ln w="12700">
            <a:solidFill>
              <a:srgbClr val="7A2E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81144" y="2148840"/>
            <a:ext cx="109728" cy="10972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64024" y="2304288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 File &amp; Tasks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4024" y="2670048"/>
            <a:ext cx="1700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sheets, slides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65976" y="2148840"/>
            <a:ext cx="1938528" cy="1097280"/>
          </a:xfrm>
          <a:prstGeom prst="rect">
            <a:avLst/>
          </a:prstGeom>
          <a:solidFill>
            <a:srgbClr val="B54A00"/>
          </a:solidFill>
          <a:ln w="12700">
            <a:solidFill>
              <a:srgbClr val="7A2E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665976" y="2148840"/>
            <a:ext cx="109728" cy="109728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48856" y="2304288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3 Agent Apps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48856" y="2670048"/>
            <a:ext cx="17007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· Excel · PPT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474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3867912"/>
            <a:ext cx="155448" cy="15544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" y="37856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&amp; operations managers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197096"/>
            <a:ext cx="155448" cy="15544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0080" y="4114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content teams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526280"/>
            <a:ext cx="155448" cy="15544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0080" y="444398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admin professionals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867912"/>
            <a:ext cx="155448" cy="15544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00600" y="378561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reporting teams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4197096"/>
            <a:ext cx="155448" cy="15544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00600" y="41148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knowledge worker using Office apps daily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POSITIONING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Cowork vs Claude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023360" cy="35661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4023360" cy="475488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109728" cy="47548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1612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1216152"/>
            <a:ext cx="1078992" cy="237744"/>
          </a:xfrm>
          <a:prstGeom prst="rect">
            <a:avLst/>
          </a:prstGeom>
          <a:solidFill>
            <a:srgbClr val="F5884A"/>
          </a:solidFill>
          <a:ln w="12700">
            <a:solidFill>
              <a:srgbClr val="F58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46120" y="121615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For Developers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76072" y="1828800"/>
            <a:ext cx="137160" cy="137160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95528" y="173736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Terminal-first CLI tool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" y="2304288"/>
            <a:ext cx="137160" cy="137160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95528" y="2212848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coding knowledge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" y="2779776"/>
            <a:ext cx="137160" cy="137160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5528" y="2688336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codebase access &amp; editing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" y="3255264"/>
            <a:ext cx="137160" cy="137160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95528" y="3163824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SDK &amp; MCP integration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" y="3730752"/>
            <a:ext cx="137160" cy="137160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95528" y="3639312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automation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" y="4206240"/>
            <a:ext cx="137160" cy="137160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95528" y="411480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technical workflows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115568"/>
            <a:ext cx="4023360" cy="356616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1115568"/>
            <a:ext cx="4023360" cy="47548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1115568"/>
            <a:ext cx="109728" cy="47548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37760" y="11612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Cowork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89520" y="1216152"/>
            <a:ext cx="1078992" cy="237744"/>
          </a:xfrm>
          <a:prstGeom prst="rect">
            <a:avLst/>
          </a:prstGeom>
          <a:solidFill>
            <a:srgbClr val="F5884A"/>
          </a:solidFill>
          <a:ln w="12700">
            <a:solidFill>
              <a:srgbClr val="F58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589520" y="121615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For Everyone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919472" y="1828800"/>
            <a:ext cx="137160" cy="1371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138928" y="173736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 — no terminal needed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19472" y="2304288"/>
            <a:ext cx="137160" cy="1371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138928" y="2212848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instructions only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19472" y="2779776"/>
            <a:ext cx="137160" cy="1371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138928" y="2688336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task management focus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19472" y="3255264"/>
            <a:ext cx="137160" cy="1371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138928" y="3163824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Excel &amp; PowerPoint agents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19472" y="3730752"/>
            <a:ext cx="137160" cy="1371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138928" y="3639312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workflow automation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19472" y="4206240"/>
            <a:ext cx="137160" cy="1371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138928" y="411480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skills required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11480" y="468172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the same Claude models — Haiku, Sonnet, Opus — and can connect via MCP servers.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Installation &amp; First Launch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347472" cy="347472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0392" y="1115568"/>
            <a:ext cx="3840480" cy="804672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50392" y="1115568"/>
            <a:ext cx="3840480" cy="292608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50392" y="1115568"/>
            <a:ext cx="91440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5840" y="1152144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Download Desktop App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146304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for macOS and Windows. Download from anthropic.com/cowork or the Claude apps page.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103120"/>
            <a:ext cx="347472" cy="347472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0392" y="2048256"/>
            <a:ext cx="3840480" cy="804672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50392" y="2048256"/>
            <a:ext cx="3840480" cy="292608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50392" y="2048256"/>
            <a:ext cx="91440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05840" y="208483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In with Anthropic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05840" y="2395728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existing Claude account or create one. Your API key is configured automatically.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035808"/>
            <a:ext cx="347472" cy="347472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" y="2980944"/>
            <a:ext cx="3840480" cy="804672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50392" y="2980944"/>
            <a:ext cx="3840480" cy="292608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50392" y="2980944"/>
            <a:ext cx="91440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05840" y="301752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Your Apps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05840" y="3328416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enable Claude in Chrome, Excel, or PowerPoint from the Connections panel in Settings.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968496"/>
            <a:ext cx="347472" cy="347472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11480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" y="3913632"/>
            <a:ext cx="3840480" cy="804672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0392" y="3913632"/>
            <a:ext cx="3840480" cy="292608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0392" y="3913632"/>
            <a:ext cx="91440" cy="29260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05840" y="395020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Automating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05840" y="4261104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'Summarise all PDFs in this folder' — type any task in plain English and Cowork handles the rest.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0" y="1115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Requirements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0" y="1444752"/>
            <a:ext cx="3749040" cy="45720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29200" y="1444752"/>
            <a:ext cx="1005840" cy="457200"/>
          </a:xfrm>
          <a:prstGeom prst="rect">
            <a:avLst/>
          </a:prstGeom>
          <a:solidFill>
            <a:srgbClr val="7A2E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84064" y="153619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26480" y="15361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13+ or Windows 10/11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1993392"/>
            <a:ext cx="3749040" cy="45720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029200" y="1993392"/>
            <a:ext cx="1005840" cy="457200"/>
          </a:xfrm>
          <a:prstGeom prst="rect">
            <a:avLst/>
          </a:prstGeom>
          <a:solidFill>
            <a:srgbClr val="7A2E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84064" y="208483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RAM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26480" y="20848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minimum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0" y="2542032"/>
            <a:ext cx="3749040" cy="45720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029200" y="2542032"/>
            <a:ext cx="1005840" cy="457200"/>
          </a:xfrm>
          <a:prstGeom prst="rect">
            <a:avLst/>
          </a:prstGeom>
          <a:solidFill>
            <a:srgbClr val="7A2E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84064" y="263347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26480" y="2633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free space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0" y="3090672"/>
            <a:ext cx="3749040" cy="45720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029200" y="3090672"/>
            <a:ext cx="1005840" cy="457200"/>
          </a:xfrm>
          <a:prstGeom prst="rect">
            <a:avLst/>
          </a:prstGeom>
          <a:solidFill>
            <a:srgbClr val="7A2E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084064" y="318211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26480" y="31821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account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0" y="3639312"/>
            <a:ext cx="3749040" cy="45720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029200" y="3639312"/>
            <a:ext cx="1005840" cy="457200"/>
          </a:xfrm>
          <a:prstGeom prst="rect">
            <a:avLst/>
          </a:prstGeom>
          <a:solidFill>
            <a:srgbClr val="7A2E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084064" y="373075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Internet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26480" y="3730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Claude API calls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9200" y="4187952"/>
            <a:ext cx="3749040" cy="45720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5029200" y="4187952"/>
            <a:ext cx="1005840" cy="457200"/>
          </a:xfrm>
          <a:prstGeom prst="rect">
            <a:avLst/>
          </a:prstGeom>
          <a:solidFill>
            <a:srgbClr val="7A2E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084064" y="4279392"/>
            <a:ext cx="896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Office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26480" y="4279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for Excel/PPT agents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INTERFACE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Claude Cowork Desktop Interface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1755648" cy="3566160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755648" cy="402336"/>
          </a:xfrm>
          <a:prstGeom prst="rect">
            <a:avLst/>
          </a:prstGeom>
          <a:solidFill>
            <a:srgbClr val="7A2E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91440" cy="40233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17957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Sidebar Nav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" y="1682496"/>
            <a:ext cx="1536192" cy="438912"/>
          </a:xfrm>
          <a:prstGeom prst="rect">
            <a:avLst/>
          </a:prstGeom>
          <a:solidFill>
            <a:srgbClr val="B54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2648" y="1746504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" y="2231136"/>
            <a:ext cx="1536192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2648" y="2295144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" y="2779776"/>
            <a:ext cx="1536192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648" y="2843784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" y="3328416"/>
            <a:ext cx="1536192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" y="3392424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History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" y="3877056"/>
            <a:ext cx="1536192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2648" y="3941064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Settings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58568" y="1115568"/>
            <a:ext cx="4133088" cy="3566160"/>
          </a:xfrm>
          <a:prstGeom prst="rect">
            <a:avLst/>
          </a:prstGeom>
          <a:solidFill>
            <a:srgbClr val="FDF6EE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258568" y="1115568"/>
            <a:ext cx="4133088" cy="402336"/>
          </a:xfrm>
          <a:prstGeom prst="rect">
            <a:avLst/>
          </a:prstGeom>
          <a:solidFill>
            <a:srgbClr val="B54A00"/>
          </a:solidFill>
          <a:ln w="12700">
            <a:solidFill>
              <a:srgbClr val="B54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258568" y="1115568"/>
            <a:ext cx="91440" cy="402336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395728" y="1179576"/>
            <a:ext cx="3950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Workspace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95728" y="1645920"/>
            <a:ext cx="3858768" cy="384048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487168" y="1691640"/>
            <a:ext cx="3721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"Summarise all PDFs in /Reports and create an Excel summary"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95728" y="2176272"/>
            <a:ext cx="3858768" cy="475488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395728" y="2176272"/>
            <a:ext cx="73152" cy="47548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551176" y="2267712"/>
            <a:ext cx="3630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Scanning /Reports folder — 12 PDFs found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395728" y="2743200"/>
            <a:ext cx="3858768" cy="475488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395728" y="2743200"/>
            <a:ext cx="73152" cy="47548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551176" y="2834640"/>
            <a:ext cx="3630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Extracting key points from each document...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95728" y="3310128"/>
            <a:ext cx="3858768" cy="475488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395728" y="3310128"/>
            <a:ext cx="73152" cy="47548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551176" y="3401568"/>
            <a:ext cx="3630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Creating Excel summary — adding pivot table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395728" y="3877056"/>
            <a:ext cx="3858768" cy="475488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395728" y="3877056"/>
            <a:ext cx="73152" cy="47548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51176" y="3968496"/>
            <a:ext cx="3630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Output saved to /Reports/Summary_April.xlsx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83096" y="1115568"/>
            <a:ext cx="2249424" cy="3566160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483096" y="1115568"/>
            <a:ext cx="2249424" cy="402336"/>
          </a:xfrm>
          <a:prstGeom prst="rect">
            <a:avLst/>
          </a:prstGeom>
          <a:solidFill>
            <a:srgbClr val="B54A00"/>
          </a:solidFill>
          <a:ln w="12700">
            <a:solidFill>
              <a:srgbClr val="B54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483096" y="1115568"/>
            <a:ext cx="91440" cy="402336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620256" y="1179576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92824" y="1664208"/>
            <a:ext cx="2029968" cy="457200"/>
          </a:xfrm>
          <a:prstGeom prst="rect">
            <a:avLst/>
          </a:prstGeom>
          <a:solidFill>
            <a:srgbClr val="B54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684264" y="16916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Chrome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684264" y="190195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· Active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92824" y="2231136"/>
            <a:ext cx="2029968" cy="457200"/>
          </a:xfrm>
          <a:prstGeom prst="rect">
            <a:avLst/>
          </a:prstGeom>
          <a:solidFill>
            <a:srgbClr val="B54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684264" y="22585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Excel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684264" y="24688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592824" y="2798064"/>
            <a:ext cx="2029968" cy="457200"/>
          </a:xfrm>
          <a:prstGeom prst="rect">
            <a:avLst/>
          </a:prstGeom>
          <a:solidFill>
            <a:srgbClr val="B54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684264" y="282549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📽  PowerPoint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684264" y="303580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592824" y="3364992"/>
            <a:ext cx="2029968" cy="457200"/>
          </a:xfrm>
          <a:prstGeom prst="rect">
            <a:avLst/>
          </a:prstGeom>
          <a:solidFill>
            <a:srgbClr val="7A2E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684264" y="33924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Asana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684264" y="360273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592824" y="3931920"/>
            <a:ext cx="2029968" cy="457200"/>
          </a:xfrm>
          <a:prstGeom prst="rect">
            <a:avLst/>
          </a:prstGeom>
          <a:solidFill>
            <a:srgbClr val="7A2E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684264" y="39593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 HubSpot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684264" y="416966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11480" y="4709160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258568" y="4709160"/>
            <a:ext cx="4133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task workspace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483096" y="4709160"/>
            <a:ext cx="2249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connections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APPS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Integrated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Applications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Chrome  ·  Claude in Excel  ·  Claude in PowerPoint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AGENT APPS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Cowork's Three Agent Applications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293876"/>
            <a:ext cx="2633472" cy="33375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293876"/>
            <a:ext cx="2633472" cy="475488"/>
          </a:xfrm>
          <a:prstGeom prst="rect">
            <a:avLst/>
          </a:prstGeom>
          <a:solidFill>
            <a:srgbClr val="1E0A00"/>
          </a:solidFill>
          <a:ln w="12700">
            <a:solidFill>
              <a:srgbClr val="1E0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293876"/>
            <a:ext cx="109728" cy="47548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3304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Claude in Chrome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42516"/>
            <a:ext cx="2359152" cy="23774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6072" y="1851660"/>
            <a:ext cx="2313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 · Research · Act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171700"/>
            <a:ext cx="235915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browsing agent that navigates the web, fills forms, extracts data from pages, researches topics, and completes multi-step online tasks — all from a natural language prompt.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product integrated into the Chrome browser extension.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293876"/>
            <a:ext cx="2633472" cy="33375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0" y="1293876"/>
            <a:ext cx="2633472" cy="475488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0" y="1293876"/>
            <a:ext cx="109728" cy="47548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83280" y="13304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Claude in Excel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1842516"/>
            <a:ext cx="2359152" cy="23774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64992" y="1851660"/>
            <a:ext cx="2313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 · Transform · Report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2171700"/>
            <a:ext cx="235915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agent that reads, writes, and transforms Excel files. Create formulas, pivot tables, charts and summaries using plain English — no formula knowledge needed.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.xlsx files and Microsoft 365 sheets.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89320" y="1293876"/>
            <a:ext cx="2633472" cy="33375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89320" y="1293876"/>
            <a:ext cx="2633472" cy="475488"/>
          </a:xfrm>
          <a:prstGeom prst="rect">
            <a:avLst/>
          </a:prstGeom>
          <a:solidFill>
            <a:srgbClr val="B54A00"/>
          </a:solidFill>
          <a:ln w="12700">
            <a:solidFill>
              <a:srgbClr val="B54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989320" y="1293876"/>
            <a:ext cx="109728" cy="47548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72200" y="13304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📽  Claude in PowerPoint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1842516"/>
            <a:ext cx="2359152" cy="23774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53912" y="1851660"/>
            <a:ext cx="23134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· Write · Build Decks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26480" y="2171700"/>
            <a:ext cx="235915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slides agent that creates, edits, and refines PowerPoint presentations. Generate full decks from a brief, update existing decks, reformat layouts, and rewrite content — all via chat.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standard .pptx files compatible with Office.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CLAUDE IN CHROME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in Chrome — Browsing Agent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17904"/>
            <a:ext cx="4023360" cy="566928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517904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Web Research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837944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synthesise information from multiple pages into a structured report.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148840"/>
            <a:ext cx="4023360" cy="566928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2148840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212848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Form Filling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468880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websites and fill forms automatically from structured data you provide.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779776"/>
            <a:ext cx="4023360" cy="566928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779776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2843784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📥  Data Extraction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099816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structured data from web pages — tables, lists, pricing — into usable formats.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410712"/>
            <a:ext cx="4023360" cy="566928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1480" y="3410712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347472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Multi-Step Tasks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3730752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actions: search → read → compare → summarise across multiple pages.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041648"/>
            <a:ext cx="4023360" cy="566928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11480" y="4041648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4360" y="4105656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Supervised Mode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361688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sensitive actions (clicks, form submissions) for your approval.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12070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Prompts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517904"/>
            <a:ext cx="4114800" cy="731520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63440" y="1517904"/>
            <a:ext cx="109728" cy="7315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64608" y="1609344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"Research the top 5 CRM tools, compare pricing and features, and create a summary table"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359152"/>
            <a:ext cx="4114800" cy="731520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663440" y="2359152"/>
            <a:ext cx="109728" cy="7315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64608" y="2450592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 to linkedin.com/jobs, search for Data Analyst roles in Mumbai, list top 10 with salary ranges"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200400"/>
            <a:ext cx="4114800" cy="731520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63440" y="3200400"/>
            <a:ext cx="109728" cy="7315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64608" y="3291840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"Visit our competitor's pricing page and extract all plan names, prices, and feature limits"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4041648"/>
            <a:ext cx="4114800" cy="731520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663440" y="4041648"/>
            <a:ext cx="109728" cy="7315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64608" y="4133088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"Fill in the contact form on vendor.com using the details in my contacts spreadsheet"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CLAUDE IN EXCEL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in Excel — Spreadsheet Agent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2435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023360" cy="566928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618488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Formula Generation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complex formulas from plain English: 'Calculate 3-month moving average of column B'.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85416"/>
            <a:ext cx="4023360" cy="566928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2185416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249424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Charts &amp; Pivots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505456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pivot tables, bar charts, and dashboards from raw data with a single instruction.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4023360" cy="566928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816352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880360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🧹  Data Cleaning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136392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standardise formats, fill gaps, and restructure tables automatically.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447288"/>
            <a:ext cx="4023360" cy="566928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3447288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3511296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Cross-Sheet Merge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767328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data from multiple sheets or files, match on keys, produce unified reports.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078224"/>
            <a:ext cx="4023360" cy="566928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5760" y="4078224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4142232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  Report Generation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398264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data into an executive report sheet with KPIs, commentary, and formatting.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17720" y="12435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Prompts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17720" y="1554480"/>
            <a:ext cx="4114800" cy="731520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17720" y="1554480"/>
            <a:ext cx="109728" cy="7315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18888" y="1645920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 sales_data.xlsx and create a pivot table by region and quarter, then add a bar chart"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2395728"/>
            <a:ext cx="4114800" cy="731520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617720" y="2395728"/>
            <a:ext cx="109728" cy="7315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18888" y="2487168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"Clean this customer list: remove duplicates, fix phone number formats, fill blank City fields from postcode"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3236976"/>
            <a:ext cx="4114800" cy="731520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17720" y="3236976"/>
            <a:ext cx="109728" cy="7315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18888" y="3328416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"Merge all monthly expense sheets into a single annual summary with subtotals by category"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17720" y="4078224"/>
            <a:ext cx="4114800" cy="731520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617720" y="4078224"/>
            <a:ext cx="109728" cy="7315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18888" y="4169664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KPI summary tab showing total revenue, top 5 customers, and month-on-month growth %"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92024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CLAUDE IN POWERPOINT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in PowerPoint — Slides Agent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201559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12455"/>
            <a:ext cx="4023360" cy="566928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512455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576463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 Deck Creation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832495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complete presentation from a brief — titles, content, and structure, all laid out.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143391"/>
            <a:ext cx="4023360" cy="566928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2143391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207399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  Content Editing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463431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slide text, sharpen bullet points, or adjust tone (formal / executive / casual).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774327"/>
            <a:ext cx="4023360" cy="566928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774327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2838335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Layout Reformat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094367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reorganise and apply consistent styling across all slides automatically.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405263"/>
            <a:ext cx="4023360" cy="566928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1480" y="3405263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3469271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Data to Slides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3725303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 table or chart from Excel and turn it into a well-formatted presentation slide.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036199"/>
            <a:ext cx="4023360" cy="566928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11480" y="4036199"/>
            <a:ext cx="91440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94360" y="4100207"/>
            <a:ext cx="3767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Iterative Refine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356239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'Make slide 3 more concise' — describe the change and Cowork applies it precisely.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1201559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Prompts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512455"/>
            <a:ext cx="4114800" cy="731520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63440" y="1512455"/>
            <a:ext cx="109728" cy="7315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64608" y="1603895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10-slide investor pitch deck for our SaaS product — include problem, solution, market, team"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353703"/>
            <a:ext cx="4114800" cy="731520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663440" y="2353703"/>
            <a:ext cx="109728" cy="7315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64608" y="2445143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"Rewrite all bullet points in this deck to be more concise and use active voice throughout"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194951"/>
            <a:ext cx="4114800" cy="731520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63440" y="3194951"/>
            <a:ext cx="109728" cy="7315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64608" y="3286391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slide after slide 4 showing the Q3 revenue chart from my Excel file"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4036199"/>
            <a:ext cx="4114800" cy="731520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663440" y="4036199"/>
            <a:ext cx="109728" cy="7315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64608" y="4127639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"Apply consistent heading and body font sizes across all 20 slides in this deck"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&amp; Task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Workflows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automation · Document processing · Multi-app pipelines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AUTOMATION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Automation Capabilities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023360" cy="1170432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4023360" cy="329184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109728" cy="3291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1612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Folder Watching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51790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 folder for new files. When a document arrives, automatically trigger an action — summarise, extract, rename, or route it.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395728"/>
            <a:ext cx="4023360" cy="1170432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2395728"/>
            <a:ext cx="4023360" cy="329184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109728" cy="3291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44144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Document Processing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79806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an entire folder of PDFs, Word docs, or spreadsheets in one instruction. Extract data, summarise, or convert — all at once.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675888"/>
            <a:ext cx="4023360" cy="1170432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3675888"/>
            <a:ext cx="4023360" cy="329184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3675888"/>
            <a:ext cx="109728" cy="3291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37216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Multi-File Merge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07822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content from multiple documents into one output — merge reports, consolidate notes, or build a master spreadsheet.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115568"/>
            <a:ext cx="4023360" cy="1170432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1115568"/>
            <a:ext cx="4023360" cy="329184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1115568"/>
            <a:ext cx="109728" cy="3291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37760" y="11612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Scheduled Tasks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151790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recurring automation: 'Every Monday, generate a weekly digest from emails in this folder and save to reports/.'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395728"/>
            <a:ext cx="4023360" cy="1170432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2395728"/>
            <a:ext cx="4023360" cy="329184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54880" y="2395728"/>
            <a:ext cx="109728" cy="3291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37760" y="244144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Cross-App Pipelines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279806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agents together: scrape web data with Chrome → clean in Excel → present findings in PowerPoint — all in one workflow.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675888"/>
            <a:ext cx="4023360" cy="1170432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3675888"/>
            <a:ext cx="4023360" cy="329184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3675888"/>
            <a:ext cx="109728" cy="3291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0" y="372160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Routing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407822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outputs to specific folders, email drafts, or connected apps. Keep every output organised without manual file management.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WORKFLOW RECIPES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Real-World Workflow Recipes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229868"/>
            <a:ext cx="4023360" cy="109728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229868"/>
            <a:ext cx="475488" cy="1097280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229868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8408" y="13030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Report Generation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8408" y="1641348"/>
            <a:ext cx="3337560" cy="566928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78408" y="1641348"/>
            <a:ext cx="73152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24712" y="1687068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Emails/PDFs in folder  →  Excel summary  →  PowerPoint deck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436876"/>
            <a:ext cx="4023360" cy="109728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11480" y="2436876"/>
            <a:ext cx="475488" cy="1097280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2436876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78408" y="25100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 Research Brief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8408" y="2848356"/>
            <a:ext cx="3337560" cy="566928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78408" y="2848356"/>
            <a:ext cx="73152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124712" y="2894076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scrapes competitor sites  →  Word brief drafted automatically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643884"/>
            <a:ext cx="4023360" cy="109728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3643884"/>
            <a:ext cx="475488" cy="1097280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3643884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8408" y="37170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Invoice Processing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8408" y="4055364"/>
            <a:ext cx="3337560" cy="566928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78408" y="4055364"/>
            <a:ext cx="73152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124712" y="4101084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invoices  →  Excel data extraction  →  Reconciliation report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229868"/>
            <a:ext cx="4023360" cy="109728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54880" y="1229868"/>
            <a:ext cx="475488" cy="1097280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1229868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21808" y="13030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 Posting Research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21808" y="1641348"/>
            <a:ext cx="3337560" cy="566928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321808" y="1641348"/>
            <a:ext cx="73152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68112" y="1687068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searches LinkedIn/job boards  →  Excel ranked candidate list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436876"/>
            <a:ext cx="4023360" cy="109728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54880" y="2436876"/>
            <a:ext cx="475488" cy="1097280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54880" y="2436876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21808" y="25100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 Dashboard Refresh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321808" y="2848356"/>
            <a:ext cx="3337560" cy="566928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321808" y="2848356"/>
            <a:ext cx="73152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68112" y="2894076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CSV data  →  Excel pivot + charts updated  →  PPT slide refreshed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643884"/>
            <a:ext cx="4023360" cy="109728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754880" y="3643884"/>
            <a:ext cx="475488" cy="1097280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0" y="3643884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21808" y="371703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 Notes Digest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321808" y="4055364"/>
            <a:ext cx="3337560" cy="566928"/>
          </a:xfrm>
          <a:prstGeom prst="rect">
            <a:avLst/>
          </a:prstGeom>
          <a:solidFill>
            <a:srgbClr val="3D1200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321808" y="4055364"/>
            <a:ext cx="73152" cy="56692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468112" y="4101084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of DOCX notes  →  Summarised agenda  →  Action items list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&amp; CONNECTIONS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046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Connecting External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via MCP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· HubSpot · Notion · Monday · Asana · Custom tools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64592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MCP CONNECTIONS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Extending Cowork with MCP Servers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MCP Works in Cowork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609344"/>
            <a:ext cx="292608" cy="29260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1609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536192"/>
            <a:ext cx="3566160" cy="713232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" y="1536192"/>
            <a:ext cx="91440" cy="7132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87552" y="160020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Connections Panel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18745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Settings → Connections. Each MCP server shows as a toggleable service card.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2432304"/>
            <a:ext cx="292608" cy="29260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38912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359152"/>
            <a:ext cx="3566160" cy="713232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2359152"/>
            <a:ext cx="91440" cy="7132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87552" y="24231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a Service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7552" y="2697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Connect. Authenticate with OAuth or API key — credentials stored in system keychain.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3255264"/>
            <a:ext cx="292608" cy="29260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8912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182112"/>
            <a:ext cx="3566160" cy="713232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22960" y="3182112"/>
            <a:ext cx="91440" cy="7132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87552" y="324612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in Prompts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7552" y="35204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service naturally: "Create a task in Asana for the Q4 report review".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4078224"/>
            <a:ext cx="292608" cy="292608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38912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4005072"/>
            <a:ext cx="3566160" cy="713232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2960" y="4005072"/>
            <a:ext cx="91440" cy="71323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87552" y="406908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 with File Agents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87552" y="43434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MCP with Excel/PowerPoint: read Notion data → build Excel report → send update.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12070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 MCP Services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536192"/>
            <a:ext cx="1938528" cy="54864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663440" y="1536192"/>
            <a:ext cx="73152" cy="5486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09744" y="1591056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Atlassian / Jira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9744" y="1847088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sprints, boards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2176272"/>
            <a:ext cx="1938528" cy="54864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663440" y="2176272"/>
            <a:ext cx="73152" cy="5486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09744" y="2231136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HubSpot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9744" y="2487168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contacts, deals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63440" y="2816352"/>
            <a:ext cx="1938528" cy="54864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663440" y="2816352"/>
            <a:ext cx="73152" cy="5486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09744" y="2871216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Monday.com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9744" y="3127248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boards, items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456432"/>
            <a:ext cx="1938528" cy="54864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663440" y="3456432"/>
            <a:ext cx="73152" cy="5486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09744" y="3511296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Canva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9744" y="3767328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file management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4096512"/>
            <a:ext cx="1938528" cy="54864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663440" y="4096512"/>
            <a:ext cx="73152" cy="5486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809744" y="4151376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Asana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09744" y="4407408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projects, teams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748272" y="1536192"/>
            <a:ext cx="1938528" cy="54864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748272" y="1536192"/>
            <a:ext cx="73152" cy="5486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894576" y="1591056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94576" y="1847088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databases, workspace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748272" y="2176272"/>
            <a:ext cx="1938528" cy="54864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48272" y="2176272"/>
            <a:ext cx="73152" cy="5486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894576" y="2231136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Box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894576" y="2487168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storage, sharing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748272" y="2816352"/>
            <a:ext cx="1938528" cy="54864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6748272" y="2816352"/>
            <a:ext cx="73152" cy="5486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894576" y="2871216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Figma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94576" y="3127248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files, components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748272" y="3456432"/>
            <a:ext cx="1938528" cy="54864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748272" y="3456432"/>
            <a:ext cx="73152" cy="5486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894576" y="3511296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Intercom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894576" y="3767328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conversations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748272" y="4096512"/>
            <a:ext cx="1938528" cy="54864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6748272" y="4096512"/>
            <a:ext cx="73152" cy="5486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894576" y="4151376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894576" y="4407408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issue tracking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73736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PRIVACY &amp; SECURITY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Privacy, Security &amp; User Control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023360" cy="118872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4023360" cy="329184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109728" cy="3291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1612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Local File Access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517904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reads files only when you explicitly point it to a folder. It does not scan your disk automatically or access files outside the scope you define.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414016"/>
            <a:ext cx="4023360" cy="118872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2414016"/>
            <a:ext cx="4023360" cy="329184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2414016"/>
            <a:ext cx="109728" cy="3291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45973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  Approval Before 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81635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sensitive steps — form submissions, file overwrites, web clicks — Cowork pauses and asks for your explicit approval before proceeding.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712464"/>
            <a:ext cx="4023360" cy="118872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11480" y="3712464"/>
            <a:ext cx="4023360" cy="329184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1480" y="3712464"/>
            <a:ext cx="109728" cy="3291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94360" y="375818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Credential Handling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OAuth tokens are stored in your system keychain, never sent to Anthropic or third-party servers in plaintext.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1115568"/>
            <a:ext cx="4023360" cy="118872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1115568"/>
            <a:ext cx="4023360" cy="329184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1115568"/>
            <a:ext cx="109728" cy="3291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37760" y="11612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Data in Transit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1517904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communications with Claude models use TLS encryption. File contents are sent to the API only for the specific task you trigger, then discarded.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414016"/>
            <a:ext cx="4023360" cy="118872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2414016"/>
            <a:ext cx="4023360" cy="329184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54880" y="2414016"/>
            <a:ext cx="109728" cy="3291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37760" y="245973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Audit Log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2816352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automation run is logged locally with a timestamp, task description, and output location. Full history of every action Cowork has taken.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712464"/>
            <a:ext cx="4023360" cy="118872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3712464"/>
            <a:ext cx="4023360" cy="329184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3712464"/>
            <a:ext cx="109728" cy="32918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0" y="375818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⛔  No Background Activity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411480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only runs when the app is open and you initiate a task. No background processes or scheduled access while you are away.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554480" cy="2011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BEST PRACTICES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1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&amp; Tips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B54A00"/>
                </a:solidFill>
              </a:rPr>
              <a:t>Claude Cowork Series 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023360" cy="347472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09728" cy="34747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152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DO — Best Practices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536192"/>
            <a:ext cx="402336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73152" cy="365760"/>
          </a:xfrm>
          <a:prstGeom prst="rect">
            <a:avLst/>
          </a:prstGeom>
          <a:solidFill>
            <a:srgbClr val="B54A00"/>
          </a:solidFill>
          <a:ln w="12700">
            <a:solidFill>
              <a:srgbClr val="B54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59105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 specific: name files, folders and output locations exactly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1956816"/>
            <a:ext cx="4023360" cy="36576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1956816"/>
            <a:ext cx="73152" cy="365760"/>
          </a:xfrm>
          <a:prstGeom prst="rect">
            <a:avLst/>
          </a:prstGeom>
          <a:solidFill>
            <a:srgbClr val="B54A00"/>
          </a:solidFill>
          <a:ln w="12700">
            <a:solidFill>
              <a:srgbClr val="B54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01168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 on a small subset before batch-processing large folders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377440"/>
            <a:ext cx="402336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377440"/>
            <a:ext cx="73152" cy="365760"/>
          </a:xfrm>
          <a:prstGeom prst="rect">
            <a:avLst/>
          </a:prstGeom>
          <a:solidFill>
            <a:srgbClr val="B54A00"/>
          </a:solidFill>
          <a:ln w="12700">
            <a:solidFill>
              <a:srgbClr val="B54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43230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approval mode when running tasks on production files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798064"/>
            <a:ext cx="4023360" cy="36576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1480" y="2798064"/>
            <a:ext cx="73152" cy="365760"/>
          </a:xfrm>
          <a:prstGeom prst="rect">
            <a:avLst/>
          </a:prstGeom>
          <a:solidFill>
            <a:srgbClr val="B54A00"/>
          </a:solidFill>
          <a:ln w="12700">
            <a:solidFill>
              <a:srgbClr val="B54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285292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Keep prompts task-focused — one clear action per instruction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218688"/>
            <a:ext cx="402336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1480" y="3218688"/>
            <a:ext cx="73152" cy="365760"/>
          </a:xfrm>
          <a:prstGeom prst="rect">
            <a:avLst/>
          </a:prstGeom>
          <a:solidFill>
            <a:srgbClr val="B54A00"/>
          </a:solidFill>
          <a:ln w="12700">
            <a:solidFill>
              <a:srgbClr val="B54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2735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Review outputs before sharing or sending downstream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639312"/>
            <a:ext cx="4023360" cy="36576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11480" y="3639312"/>
            <a:ext cx="73152" cy="365760"/>
          </a:xfrm>
          <a:prstGeom prst="rect">
            <a:avLst/>
          </a:prstGeom>
          <a:solidFill>
            <a:srgbClr val="B54A00"/>
          </a:solidFill>
          <a:ln w="12700">
            <a:solidFill>
              <a:srgbClr val="B54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8640" y="369417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Scheduled Tasks for recurring reports (weekly/monthly)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4059936"/>
            <a:ext cx="402336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11480" y="4059936"/>
            <a:ext cx="73152" cy="365760"/>
          </a:xfrm>
          <a:prstGeom prst="rect">
            <a:avLst/>
          </a:prstGeom>
          <a:solidFill>
            <a:srgbClr val="B54A00"/>
          </a:solidFill>
          <a:ln w="12700">
            <a:solidFill>
              <a:srgbClr val="B54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Connect only the MCP services your workflow actually needs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480560"/>
            <a:ext cx="4023360" cy="36576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11480" y="4480560"/>
            <a:ext cx="73152" cy="365760"/>
          </a:xfrm>
          <a:prstGeom prst="rect">
            <a:avLst/>
          </a:prstGeom>
          <a:solidFill>
            <a:srgbClr val="B54A00"/>
          </a:solidFill>
          <a:ln w="12700">
            <a:solidFill>
              <a:srgbClr val="B54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48640" y="453542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Save successful prompts as reusable task templates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1115568"/>
            <a:ext cx="4023360" cy="347472"/>
          </a:xfrm>
          <a:prstGeom prst="rect">
            <a:avLst/>
          </a:prstGeom>
          <a:solidFill>
            <a:srgbClr val="3D1200"/>
          </a:solidFill>
          <a:ln w="12700">
            <a:solidFill>
              <a:srgbClr val="3D1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09160" y="1115568"/>
            <a:ext cx="109728" cy="347472"/>
          </a:xfrm>
          <a:prstGeom prst="rect">
            <a:avLst/>
          </a:prstGeom>
          <a:solidFill>
            <a:srgbClr val="F5884A"/>
          </a:solidFill>
          <a:ln w="12700">
            <a:solidFill>
              <a:srgbClr val="F58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92040" y="11521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DON'T — Anti-Patterns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1536192"/>
            <a:ext cx="402336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09160" y="1536192"/>
            <a:ext cx="73152" cy="3657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46320" y="159105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Point Cowork at your entire Downloads or Desktop folder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1956816"/>
            <a:ext cx="4023360" cy="36576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09160" y="1956816"/>
            <a:ext cx="73152" cy="3657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46320" y="201168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Skip review on tasks that overwrite or delete original files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2377440"/>
            <a:ext cx="402336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709160" y="2377440"/>
            <a:ext cx="73152" cy="3657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846320" y="243230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Use vague prompts like 'fix my spreadsheet' without context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2798064"/>
            <a:ext cx="4023360" cy="36576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709160" y="2798064"/>
            <a:ext cx="73152" cy="3657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846320" y="285292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Chain 5+ apps in one instruction without testing each step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09160" y="3218688"/>
            <a:ext cx="402336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709160" y="3218688"/>
            <a:ext cx="73152" cy="3657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846320" y="32735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Share outputs with sensitive data before reviewing for accuracy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09160" y="3639312"/>
            <a:ext cx="4023360" cy="36576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709160" y="3639312"/>
            <a:ext cx="73152" cy="3657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846320" y="369417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Grant MCP service access you don't actively use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09160" y="4059936"/>
            <a:ext cx="4023360" cy="365760"/>
          </a:xfrm>
          <a:prstGeom prst="rect">
            <a:avLst/>
          </a:prstGeom>
          <a:solidFill>
            <a:srgbClr val="FFF3E8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709160" y="4059936"/>
            <a:ext cx="73152" cy="3657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46320" y="411480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Run automated tasks on live documents others are editing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09160" y="4480560"/>
            <a:ext cx="4023360" cy="365760"/>
          </a:xfrm>
          <a:prstGeom prst="rect">
            <a:avLst/>
          </a:prstGeom>
          <a:solidFill>
            <a:srgbClr val="FFE8D0"/>
          </a:solidFill>
          <a:ln w="12700">
            <a:solidFill>
              <a:srgbClr val="FFE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709160" y="4480560"/>
            <a:ext cx="73152" cy="3657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846320" y="453542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0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Forget to check the audit log when something looks wrong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Cowork Cheat Sheet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4069080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135331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783080" y="1353312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anthropic.com/cowork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4069080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1783080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" y="1783080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1208" y="187452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783080" y="1874520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Cowork → Sign in with Anthropic account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304288"/>
            <a:ext cx="4069080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2304288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11480" y="2304288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21208" y="239572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APPS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783080" y="2395728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Connections → Enable Chrome / Excel / PPT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2825496"/>
            <a:ext cx="4069080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1480" y="2825496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1480" y="2825496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" y="2916936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MCP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783080" y="2916936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Connections → Add service (OAuth or API key)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3346704"/>
            <a:ext cx="4069080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11480" y="3346704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11480" y="3346704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21208" y="343814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FOLDER TASK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783080" y="3438144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all PDFs in /Reports → save to /Output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3867912"/>
            <a:ext cx="4069080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11480" y="3867912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11480" y="3867912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21208" y="395935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TASK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783080" y="3959352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this spreadsheet and add a summary tab with totals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4389120"/>
            <a:ext cx="4069080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11480" y="4389120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11480" y="4389120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1208" y="448056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CHROME TASK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783080" y="4480560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top 5 SaaS tools and list pricing in a table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27448" y="1261872"/>
            <a:ext cx="3783988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27448" y="1261872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27448" y="1261872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37176" y="135331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PPT TASK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099048" y="1353312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10-slide deck from this Word document outline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27448" y="1783080"/>
            <a:ext cx="3783988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727448" y="1783080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727448" y="1783080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837176" y="187452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PROCESS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099048" y="1874520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all invoices in /Invoices → extract to Excel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27448" y="2304288"/>
            <a:ext cx="3783988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27448" y="2304288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727448" y="2304288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37176" y="239572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CROSS-APP CHAIN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099048" y="2395728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scrapes → Excel cleans → PowerPoint presents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27448" y="2825496"/>
            <a:ext cx="3783988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727448" y="2825496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727448" y="2825496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837176" y="2916936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099048" y="291693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Monday: summarise new files in /Reports folder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27448" y="3346704"/>
            <a:ext cx="3783988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727448" y="3346704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727448" y="3346704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837176" y="343814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 MODE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099048" y="3438144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always confirm before file overwrites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27448" y="3867912"/>
            <a:ext cx="3783988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727448" y="3867912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4727448" y="3867912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837176" y="395935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LOG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099048" y="3959352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Automation History → every completed task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27448" y="4389120"/>
            <a:ext cx="3783988" cy="438912"/>
          </a:xfrm>
          <a:prstGeom prst="rect">
            <a:avLst/>
          </a:prstGeom>
          <a:solidFill>
            <a:srgbClr val="3D12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727448" y="4389120"/>
            <a:ext cx="1298448" cy="438912"/>
          </a:xfrm>
          <a:prstGeom prst="rect">
            <a:avLst/>
          </a:prstGeom>
          <a:solidFill>
            <a:srgbClr val="1E0A00"/>
          </a:solidFill>
          <a:ln w="12700">
            <a:solidFill>
              <a:srgbClr val="7A2E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4727448" y="4389120"/>
            <a:ext cx="73152" cy="4389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837176" y="448056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 PROMPT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099048" y="4480560"/>
            <a:ext cx="2624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task as Template → reuse with one click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86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Cowork</a:t>
            </a:r>
            <a:endParaRPr lang="en-US" sz="4000" dirty="0"/>
          </a:p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</a:t>
            </a: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08483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20665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for non-developers — no code, no terminal, no friction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54203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beta agent apps: Claude in Chrome, Excel, and PowerPoint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29809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file &amp; task workflows with plain English instructions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5643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34381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agents across apps: research → analyse → present — end to 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1363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38953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MCP service integrations: Jira, HubSpot, Notion, Asana, and more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370832"/>
            <a:ext cx="128016" cy="27432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43525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log, approval mode, and local credential storage for security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anthropic.com  ·  docs.claude.ai  ·  support.claude.com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2303</Words>
  <Application>Microsoft Office PowerPoint</Application>
  <PresentationFormat>On-screen Show (16:9)</PresentationFormat>
  <Paragraphs>358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Cowork — AI Automation for Everyone</dc:title>
  <dc:subject>PptxGenJS Presentation</dc:subject>
  <dc:creator>PptxGenJS</dc:creator>
  <cp:lastModifiedBy>Harsh Dalal</cp:lastModifiedBy>
  <cp:revision>5</cp:revision>
  <dcterms:created xsi:type="dcterms:W3CDTF">2026-04-25T11:48:03Z</dcterms:created>
  <dcterms:modified xsi:type="dcterms:W3CDTF">2026-05-06T07:03:08Z</dcterms:modified>
</cp:coreProperties>
</file>