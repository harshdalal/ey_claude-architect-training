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4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621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ANTHROPIC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Certified Architect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– Foundations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CCA-F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AA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Course  ·  Exam Guidelines  ·  Study Guide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5C2D0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45537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AA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 Hours  ·  5 Domains  ·  Hands-on Labs  ·  Passing Score: 720/1000  ·  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09728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AGENDA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Will Cover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</a:rPr>
              <a:t>Claude Architect Foundation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384048" cy="384048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" y="14356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166420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· Scoring · Scenarios · Prerequisites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560320"/>
            <a:ext cx="384048" cy="384048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6968" y="25328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6968" y="276148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Architecture &amp; Orchestration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657600"/>
            <a:ext cx="384048" cy="384048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1148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" y="363016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6968" y="38587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Design &amp; MCP Integration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463040"/>
            <a:ext cx="384048" cy="384048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66344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38928" y="14356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38928" y="166420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Configuration &amp; Workflows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2560320"/>
            <a:ext cx="384048" cy="384048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6344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38928" y="25328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38928" y="276148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3657600"/>
            <a:ext cx="384048" cy="384048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6634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38928" y="363016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38928" y="38587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 &amp; Reliability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09728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EXAM 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CCA-F Exam at Glance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Claude Architect Foundation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1874520" cy="1234440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109728" cy="123444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76072" y="117043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 hrs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76072" y="171907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Duration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87168" y="1097280"/>
            <a:ext cx="1874520" cy="1234440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487168" y="1097280"/>
            <a:ext cx="109728" cy="123444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651760" y="117043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720/1000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51760" y="171907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Score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62856" y="1097280"/>
            <a:ext cx="1874520" cy="1234440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62856" y="1097280"/>
            <a:ext cx="109728" cy="123444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27448" y="117043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of 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27448" y="171907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Tested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38544" y="1097280"/>
            <a:ext cx="1874520" cy="1234440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638544" y="1097280"/>
            <a:ext cx="109728" cy="123444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03136" y="117043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6+ months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03136" y="171907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Required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2560320"/>
            <a:ext cx="1920240" cy="36576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" y="25786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423160" y="2606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 — 1 correct answer + 3 distractors per question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063240"/>
            <a:ext cx="1920240" cy="36576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" y="308152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Guessing Penalty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423160" y="3108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attempt all questions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3566160"/>
            <a:ext cx="1920240" cy="36576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5488" y="358444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Candidate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423160" y="3611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with 6+ months hands-on: Claude APIs, Agent SDK, Claude Code, MCP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" y="4069080"/>
            <a:ext cx="1920240" cy="36576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5488" y="408736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423160" y="4114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09728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EXAM SCENARIOS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 Scenarios (6 Total, 4 Tested at Random)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Claude Architect Foundation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4023360" cy="914400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109728" cy="9144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13075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 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1527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Support Resolution Agent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18562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 · Agentic Architecture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2331720"/>
            <a:ext cx="4023360" cy="914400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11480" y="2331720"/>
            <a:ext cx="109728" cy="9144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4360" y="24048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 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94360" y="26243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Generation with Claude Code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29535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3 · Claude Code Workflows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3429000"/>
            <a:ext cx="4023360" cy="914400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11480" y="3429000"/>
            <a:ext cx="109728" cy="9144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94360" y="35021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 03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" y="37216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Research System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4360" y="40507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 · Orchestration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1234440"/>
            <a:ext cx="4023360" cy="91440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0" y="1234440"/>
            <a:ext cx="109728" cy="9144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37760" y="13075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 04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37760" y="1527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 Productivity with Claude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37760" y="18562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4 · Prompt Engineering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2331720"/>
            <a:ext cx="4023360" cy="91440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754880" y="2331720"/>
            <a:ext cx="109728" cy="9144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37760" y="24048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 05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937760" y="26243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for Continuous Integration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937760" y="29535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3 · CI/CD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0" y="3429000"/>
            <a:ext cx="4023360" cy="91440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754880" y="3429000"/>
            <a:ext cx="109728" cy="9144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937760" y="35021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 06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37760" y="37216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Data Extraction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937760" y="40507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4 · JSON Schema &amp; tool_use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09728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PREREQUISITES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Prerequisites &amp; Lab Requirements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Claude Architect Foundation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29768" y="13441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Prerequisites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" y="1728216"/>
            <a:ext cx="182880" cy="182880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85800" y="16642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Familiarity with REST APIs and JSON/JSON Schema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" y="2203704"/>
            <a:ext cx="182880" cy="182880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85800" y="213969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knowledge of Python or JavaScript/TypeScript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" y="2679192"/>
            <a:ext cx="182880" cy="182880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85800" y="261518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understanding of CI/CD pipeline concepts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" y="3154680"/>
            <a:ext cx="182880" cy="182880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85800" y="309067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tools and Git version control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" y="3630168"/>
            <a:ext cx="182880" cy="182880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85800" y="3566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fundamentals: prompting, context windows, tokens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73168" y="13441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Requirements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73168" y="1737360"/>
            <a:ext cx="164592" cy="16459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10912" y="166420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key (claude-sonnet-4-6 recommended)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73168" y="2194560"/>
            <a:ext cx="164592" cy="16459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10912" y="212140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CLI — installed &amp; configured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73168" y="2651760"/>
            <a:ext cx="164592" cy="16459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010912" y="257860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or Python development environment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73168" y="3108960"/>
            <a:ext cx="164592" cy="16459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10912" y="303580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 with .claude/, CLAUDE.md, .mcp.json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73168" y="3566160"/>
            <a:ext cx="164592" cy="16459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10912" y="349300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MCP server (community or custom)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73168" y="4023360"/>
            <a:ext cx="164592" cy="16459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010912" y="395020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pipeline: GitHub Actions, Jenkins or equivalent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1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Architecture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Orchestration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Sections  ·  Hands-on Labs  ·  ~6 hrs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4023360" cy="457200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91440" cy="4572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1792" y="2496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Agentic Loop Design using Claude Agent SDK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990088"/>
            <a:ext cx="4023360" cy="457200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2990088"/>
            <a:ext cx="91440" cy="4572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1792" y="3063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Multi-Agent Orchestration (Coordinator–Subagent)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557016"/>
            <a:ext cx="4023360" cy="457200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57200" y="3557016"/>
            <a:ext cx="91440" cy="4572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1792" y="36301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Subagent Invocation &amp; Context Passing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4123944"/>
            <a:ext cx="4023360" cy="457200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4123944"/>
            <a:ext cx="91440" cy="4572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1792" y="41970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Multi-Step Workflows &amp; Enforcement Patterns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2423160"/>
            <a:ext cx="3675888" cy="457200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846320" y="2423160"/>
            <a:ext cx="91440" cy="4572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10912" y="2496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Hooks &amp; Interception using Claude Agent SDK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2990088"/>
            <a:ext cx="3675888" cy="457200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46320" y="2990088"/>
            <a:ext cx="91440" cy="4572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10912" y="3063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Task Decomposition Strategies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3557016"/>
            <a:ext cx="3675888" cy="457200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46320" y="3557016"/>
            <a:ext cx="91440" cy="4572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10912" y="36301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Session Management &amp; State Handling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09728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DOMAIN 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Architecture — Key Concepts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Claude Architect Foundation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335525"/>
            <a:ext cx="4023360" cy="141732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335525"/>
            <a:ext cx="4023360" cy="310896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" y="1335525"/>
            <a:ext cx="109728" cy="310896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1372101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Loop Design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701285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stop_reason signals (tool_use vs end_turn) for model-driven control. Append tool outputs into conversation history for iterative reasoning.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335525"/>
            <a:ext cx="4023360" cy="141732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54880" y="1335525"/>
            <a:ext cx="4023360" cy="310896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54880" y="1335525"/>
            <a:ext cx="109728" cy="310896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37760" y="1372101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Orchestration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701285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pattern: coordinator decomposes tasks, delegates to subagents, aggregates results. No automatic context inheritance between agents.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890005"/>
            <a:ext cx="4023360" cy="141732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11480" y="2890005"/>
            <a:ext cx="4023360" cy="310896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11480" y="2890005"/>
            <a:ext cx="109728" cy="310896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94360" y="2926581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Hooks &amp; Interception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255765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PostToolUse hooks transform outputs before model reasoning. Enforce compliance rules, normalize data (Unix→ISO timestamps) programmatically.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890005"/>
            <a:ext cx="4023360" cy="141732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0" y="2890005"/>
            <a:ext cx="4023360" cy="310896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754880" y="2890005"/>
            <a:ext cx="109728" cy="310896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937760" y="2926581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Management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3255765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sessions with --resume, fork for parallel exploration, inject structured summaries instead of raw history to prevent context staleness.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1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Design &amp;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Integration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Sections  ·  Hands-on Labs  ·  ~5 hrs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7954027" cy="420624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91440" cy="420624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1792" y="247802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Tool Interface Design &amp; Selection Behavior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935224"/>
            <a:ext cx="7954027" cy="420624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2935224"/>
            <a:ext cx="91440" cy="420624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1792" y="299008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Structured Error Handling in MCP Tools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447288"/>
            <a:ext cx="7954027" cy="420624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57200" y="3447288"/>
            <a:ext cx="91440" cy="420624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1792" y="3502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Tool Distribution &amp; tool_choice Configuration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959352"/>
            <a:ext cx="7954027" cy="420624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3959352"/>
            <a:ext cx="91440" cy="420624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1792" y="401421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MCP Server Integration with Claude Code &amp; Agents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471416"/>
            <a:ext cx="7954027" cy="420624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" y="4471416"/>
            <a:ext cx="91440" cy="420624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21792" y="4526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Built-in Tools Usage in Claude Code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09728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DOMAIN 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Design &amp; MCP — Key Concepts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Claude Architect Foundation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4023360" cy="109728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143000"/>
            <a:ext cx="109728" cy="109728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11978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Interface Design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453896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descriptions act as the primary decision signal. Define input formats, example queries, edge cases, and when NOT to use the tool. Prevent overlapping descriptions.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377440"/>
            <a:ext cx="4023360" cy="109728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11480" y="2377440"/>
            <a:ext cx="109728" cy="109728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94360" y="24323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Error Handling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688336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isError to signal failure states. Categorize: transient, validation, business, permission. Use isRetryable to guide retry logic deterministically.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611880"/>
            <a:ext cx="4023360" cy="109728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11480" y="3611880"/>
            <a:ext cx="109728" cy="109728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4360" y="36667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tool_choice Configuration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922776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"auto" — model decides. "any" — enforces tool usage. Forced selection ensures specific execution. Scope tools per agent for precision.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1143000"/>
            <a:ext cx="4023360" cy="109728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754880" y="1143000"/>
            <a:ext cx="109728" cy="109728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937760" y="11978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Server Integration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1453896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via .mcp.json (project-level, version-controlled) and ~/.claude.json (user-level). Manage credentials via environment variables securely.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377440"/>
            <a:ext cx="4023360" cy="109728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754880" y="2377440"/>
            <a:ext cx="109728" cy="109728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937760" y="24323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 Claude Code Tools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2688336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(search), Glob (file discovery), Read/Write (full file ops), Edit (targeted changes via anchors). Fallback: Read → modify → Write for complex edits.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3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Configuration &amp; Workflows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Sections  ·  Hands-on Labs  ·  ~6 hrs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4023360" cy="749808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91440" cy="7498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CLAUDE.md Configuration Hierarchy &amp; Modularity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8072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Project / Directory level config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3273552"/>
            <a:ext cx="4023360" cy="749808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3273552"/>
            <a:ext cx="91440" cy="7498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33192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Slash Commands &amp; Skills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.claude/commands/, .claude/skills/, SKILL.md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4123944"/>
            <a:ext cx="4023360" cy="749808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0" y="4123944"/>
            <a:ext cx="91440" cy="7498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41696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Path-Specific Rules &amp; Conditional Loading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507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.claude/rules/ with YAML frontmatter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46320" y="2423160"/>
            <a:ext cx="3474720" cy="749808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846320" y="2423160"/>
            <a:ext cx="91440" cy="7498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0" y="24688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Mode vs Direct Execution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0" y="28072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multi-file vs simple targeted changes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46320" y="3273552"/>
            <a:ext cx="3474720" cy="749808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846320" y="3273552"/>
            <a:ext cx="91440" cy="7498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029200" y="33192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Iterative Refinement Techniques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0" y="3657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Test-driven iteration, interview-style prompting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46320" y="4123944"/>
            <a:ext cx="3474720" cy="749808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46320" y="4123944"/>
            <a:ext cx="91440" cy="7498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29200" y="41696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Integration with Claude Code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0" y="4507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 / --print, --output-format json, pipeline context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1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Structured Output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Sections  ·  Hands-on Labs  ·  ~6 hrs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4023360" cy="749808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91440" cy="7498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Explicit Criteria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75234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categorical criteria (bug, security, skip) instead of vague instructions. Define severity levels with code examples per tier.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3273552"/>
            <a:ext cx="4023360" cy="749808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3273552"/>
            <a:ext cx="91440" cy="7498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33192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Few-Shot Prompting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60273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reliable for consistent outputs. Cover ambiguous cases, include decision reasoning, demonstrate expected output format.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4123944"/>
            <a:ext cx="4023360" cy="749808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0" y="4123944"/>
            <a:ext cx="91440" cy="7498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41696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tool_use &amp; JSON Schema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4531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structured outputs via tool_use. Configure tool_choice: auto / any / forced. Use nullable fields and enums with 'other'.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46320" y="2423160"/>
            <a:ext cx="3539855" cy="749808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846320" y="2423160"/>
            <a:ext cx="91440" cy="7498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0" y="2468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&amp; Retry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0" y="275234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schema + semantic validation. Retry-with-feedback: append errors to next prompt. Design self-correcting pipelines.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46320" y="3273552"/>
            <a:ext cx="3539855" cy="749808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846320" y="3273552"/>
            <a:ext cx="91440" cy="7498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029200" y="33192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 Processing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0" y="360273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cost reduction. 24-hour processing window. Best for offline workloads. Use custom_id for tracking individual requests.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46320" y="4123944"/>
            <a:ext cx="3539855" cy="749808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46320" y="4123944"/>
            <a:ext cx="91440" cy="7498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29200" y="41696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Multi-Instance Review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0" y="44531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review instance avoids generation bias. Multi-pass: local per file → cross-file integration for holistic output.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1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Management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Reliability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Sections  ·  Hands-on Labs  ·  ~5 hrs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4023360" cy="749808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91440" cy="7498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Preservation &amp; Optimization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75234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'lost-in-the-middle' effect. Trim verbose tool outputs. Maintain persistent case facts.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3273552"/>
            <a:ext cx="4023360" cy="749808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3273552"/>
            <a:ext cx="91440" cy="7498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33192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Escalation &amp; Ambiguity Resolution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60273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on explicit request or policy gaps. Never rely on sentiment-based escalation. Structured handoff.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4123944"/>
            <a:ext cx="4023360" cy="749808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0" y="4123944"/>
            <a:ext cx="91440" cy="7498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41696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Propagation in Multi-Agent Systems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4531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error: failure type + partial results + alternatives. Subagents handle local retries only.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46320" y="2423160"/>
            <a:ext cx="3521066" cy="749808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846320" y="2423160"/>
            <a:ext cx="91440" cy="7498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0" y="2468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Management in Large Codebases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0" y="275234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Scratchpad files for persistent memory. Subagent delegation. /compact for context optimization.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46320" y="3273552"/>
            <a:ext cx="3521066" cy="749808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846320" y="3273552"/>
            <a:ext cx="91440" cy="7498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029200" y="33192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Review &amp; Confidence Calibration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0" y="360273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evaluation, stratified random sampling, confidence score calibration with labeled datasets.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46320" y="4123944"/>
            <a:ext cx="3521066" cy="749808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46320" y="4123944"/>
            <a:ext cx="91440" cy="7498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29200" y="41696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Information Provenance &amp; Uncertainty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0" y="44531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claim–source mapping. Retain conflicting info with attribution. Separate confirmed vs contested.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09728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EXAM PREP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 Preparation Guidelines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</a:rPr>
              <a:t>Register: https://anthropic.skilljar.com/claude-certified-architect-foundations-access-request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4023360" cy="164592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347472" cy="347472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78408" y="12801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Master the Agent SDK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673352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full agentic loop lifecycle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020824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stop_reason correctly in all scenarios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368296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coordinator-subagent architectures from scratch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143000"/>
            <a:ext cx="4023360" cy="164592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892040" y="1261872"/>
            <a:ext cx="347472" cy="347472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92040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21808" y="12801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 Lab Practice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673352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all 4 lab exercises before the exam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37760" y="2020824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real API calls and tool_use patterns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37760" y="2368296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both Claude Code CLI and SDK workflows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971800"/>
            <a:ext cx="4023360" cy="164592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48640" y="3090672"/>
            <a:ext cx="347472" cy="347472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8408" y="31089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 Error Handling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3502152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isError, isRetryable, and error categories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3849624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retry vs no-retry decision logic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4197096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structured error propagation in multi-agent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971800"/>
            <a:ext cx="4023360" cy="164592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892040" y="3090672"/>
            <a:ext cx="347472" cy="347472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92040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21808" y="31089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Scenario Domains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3502152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each scenario to its domain focus area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37760" y="3849624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structured output with JSON Schema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37760" y="4197096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batch vs real-time trade-offs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1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ANTHROPIC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CCA-F Certification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Glance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2212848"/>
            <a:ext cx="128016" cy="2743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32-hour training across 5 domains with hands-on labs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688336"/>
            <a:ext cx="128016" cy="2743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267004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score 720/1000 — no guessing penalty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163824"/>
            <a:ext cx="128016" cy="2743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314553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6 scenarios tested at random in the exam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639312"/>
            <a:ext cx="128016" cy="2743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5800" y="362102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6+ months hands-on with Claude APIs, Agent SDK, Code &amp; MCP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128016" cy="2743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85800" y="409651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Domains: Orchestration · Tools · Claude Code · Prompt Eng · Context Mgmt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anthropic.com  ·  docs.claude.com  ·  support.claude.com . 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1367</Words>
  <Application>Microsoft Office PowerPoint</Application>
  <PresentationFormat>On-screen Show (16:9)</PresentationFormat>
  <Paragraphs>221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Certified Architect – Foundations (CCA-F)</dc:title>
  <dc:subject>PptxGenJS Presentation</dc:subject>
  <dc:creator>PptxGenJS</dc:creator>
  <cp:lastModifiedBy>Harsh Dalal</cp:lastModifiedBy>
  <cp:revision>2</cp:revision>
  <dcterms:created xsi:type="dcterms:W3CDTF">2026-04-25T03:29:41Z</dcterms:created>
  <dcterms:modified xsi:type="dcterms:W3CDTF">2026-05-02T03:51:38Z</dcterms:modified>
</cp:coreProperties>
</file>