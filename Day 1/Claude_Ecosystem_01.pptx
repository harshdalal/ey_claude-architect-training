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4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10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572000" cy="4572000"/>
          </a:xfrm>
          <a:prstGeom prst="line">
            <a:avLst/>
          </a:prstGeom>
          <a:solidFill>
            <a:srgbClr val="C45A1A">
              <a:alpha val="25000"/>
            </a:srgbClr>
          </a:solidFill>
          <a:ln w="12700">
            <a:solidFill>
              <a:srgbClr val="C45A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line">
            <a:avLst/>
          </a:prstGeom>
          <a:solidFill>
            <a:srgbClr val="E87B3A">
              <a:alpha val="18000"/>
            </a:srgbClr>
          </a:solidFill>
          <a:ln w="12700">
            <a:solidFill>
              <a:srgbClr val="E87B3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731520" y="3291840"/>
            <a:ext cx="2926080" cy="2926080"/>
          </a:xfrm>
          <a:prstGeom prst="line">
            <a:avLst/>
          </a:prstGeom>
          <a:solidFill>
            <a:srgbClr val="C45A1A">
              <a:alpha val="12000"/>
            </a:srgbClr>
          </a:solidFill>
          <a:ln w="12700">
            <a:solidFill>
              <a:srgbClr val="C45A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0" dirty="0">
                <a:solidFill>
                  <a:srgbClr val="E87B3A"/>
                </a:solidFill>
              </a:rPr>
              <a:t>ANTHROPIC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8F2"/>
                </a:solidFill>
              </a:rPr>
              <a:t>Introduction to the</a:t>
            </a:r>
            <a:endParaRPr lang="en-US" sz="4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8F2"/>
                </a:solidFill>
              </a:rPr>
              <a:t>Claude Ecosystem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AD4A8"/>
                </a:solidFill>
              </a:rPr>
              <a:t>Models  ·  Products  ·  Pricing  ·  Safety  ·  What Makes Claude Different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7955280" cy="20117"/>
          </a:xfrm>
          <a:prstGeom prst="rect">
            <a:avLst/>
          </a:prstGeom>
          <a:solidFill>
            <a:srgbClr val="5C2A0A"/>
          </a:solidFill>
          <a:ln w="12700">
            <a:solidFill>
              <a:srgbClr val="5C2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42611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070"/>
                </a:solidFill>
              </a:rPr>
              <a:t>Comprehensive Overview  · 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D1A06"/>
          </a:solidFill>
          <a:ln w="12700">
            <a:solidFill>
              <a:srgbClr val="3D1A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1097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" y="23042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8F2"/>
                </a:solidFill>
              </a:rPr>
              <a:t>Harsh Dalal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2560320" cy="29260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Claude Architect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218688"/>
            <a:ext cx="2560320" cy="29260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3218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D4A8"/>
                </a:solidFill>
              </a:rPr>
              <a:t>AI Trainer &amp; Consultant   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4370832"/>
            <a:ext cx="749808" cy="256032"/>
          </a:xfrm>
          <a:prstGeom prst="rect">
            <a:avLst/>
          </a:prstGeom>
          <a:solidFill>
            <a:srgbClr val="5C2A0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4370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AD4A8"/>
                </a:solidFill>
              </a:rPr>
              <a:t>LinkedIn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25296" y="4370832"/>
            <a:ext cx="749808" cy="256032"/>
          </a:xfrm>
          <a:prstGeom prst="rect">
            <a:avLst/>
          </a:prstGeom>
          <a:solidFill>
            <a:srgbClr val="5C2A0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25296" y="4370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AD4A8"/>
                </a:solidFill>
              </a:rPr>
              <a:t>Email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03120" y="4370832"/>
            <a:ext cx="749808" cy="256032"/>
          </a:xfrm>
          <a:prstGeom prst="rect">
            <a:avLst/>
          </a:prstGeom>
          <a:solidFill>
            <a:srgbClr val="5C2A0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103120" y="4370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AD4A8"/>
                </a:solidFill>
              </a:rPr>
              <a:t>Website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93008" y="274320"/>
            <a:ext cx="182880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93008" y="274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MEET YOUR TRAINER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38144" y="603504"/>
            <a:ext cx="54864" cy="47548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02736" y="60350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Trainer Introduction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493008" y="12070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A1A"/>
                </a:solidFill>
              </a:rPr>
              <a:t>About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93008" y="1499616"/>
            <a:ext cx="5212080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93008" y="15544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A4020"/>
                </a:solidFill>
              </a:rPr>
              <a:t>Harsh Dalal is a certified AI educator and corporate trainer specialising in Microsoft, Google, and emerging AI technologies. With hands-on experience designing and delivering enterprise training programs, Harsh has helped hundreds of professionals upskill across AI tools, productivity platforms, and digital transformation.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25054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A1A"/>
                </a:solidFill>
              </a:rPr>
              <a:t>Areas of Expertise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93008" y="2834640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93008" y="2834640"/>
            <a:ext cx="45720" cy="859536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21024" y="29260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A06"/>
                </a:solidFill>
              </a:rPr>
              <a:t>AI &amp; Copilot Training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21024" y="31821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4020"/>
                </a:solidFill>
              </a:rPr>
              <a:t>Microsoft 365 Copilot, Copilot Studio, Claude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2834640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63056" y="2834640"/>
            <a:ext cx="45720" cy="859536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91072" y="29260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A06"/>
                </a:solidFill>
              </a:rPr>
              <a:t>Google Workspace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91072" y="31821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4020"/>
                </a:solidFill>
              </a:rPr>
              <a:t>Certified Google Educator — Workspace &amp; AI features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93008" y="3822192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93008" y="3822192"/>
            <a:ext cx="45720" cy="859536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21024" y="3913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A06"/>
                </a:solidFill>
              </a:rPr>
              <a:t>Enterprise Automation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21024" y="4169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4020"/>
                </a:solidFill>
              </a:rPr>
              <a:t>Agentic workflows, RPA, and process optimisation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3822192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163056" y="3822192"/>
            <a:ext cx="45720" cy="859536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91072" y="3913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A06"/>
                </a:solidFill>
              </a:rPr>
              <a:t>Digital Transformation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91072" y="41696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4020"/>
                </a:solidFill>
              </a:rPr>
              <a:t>Upskilling programs for HR, Finance, IT, and Sales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38144" y="4791456"/>
            <a:ext cx="5266944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38144" y="4846320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Claude Ecosystem·  AI Training Series  · 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C3A96CE-6D21-1C2F-2DFF-DDC8FF29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81" y="567731"/>
            <a:ext cx="1301437" cy="1621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C2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2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4224528" cy="102412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45720" cy="10241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3504" y="1316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B3A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1572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8F2"/>
                </a:solidFill>
              </a:rPr>
              <a:t>What is Claude?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4A8"/>
                </a:solidFill>
              </a:rPr>
              <a:t>Origin, mission and Anthropic's vision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4224528" cy="102412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45720" cy="10241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" y="2523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B3A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" y="2779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8F2"/>
                </a:solidFill>
              </a:rPr>
              <a:t>Claude Model Family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4A8"/>
                </a:solidFill>
              </a:rPr>
              <a:t>Haiku · Sonnet · Opus — when to use each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224528" cy="102412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5720" cy="10241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B3A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8F2"/>
                </a:solidFill>
              </a:rPr>
              <a:t>Claude Products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4A8"/>
                </a:solidFill>
              </a:rPr>
              <a:t>Claude.ai, Code, Cowork and more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9472" y="1243584"/>
            <a:ext cx="3931920" cy="102412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19472" y="1243584"/>
            <a:ext cx="45720" cy="10241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65776" y="1316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B3A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65776" y="1572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8F2"/>
                </a:solidFill>
              </a:rPr>
              <a:t>Pricing Plans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65776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4A8"/>
                </a:solidFill>
              </a:rPr>
              <a:t>Free · Pro · Team · Enterprise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9472" y="2450592"/>
            <a:ext cx="3931920" cy="102412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19472" y="2450592"/>
            <a:ext cx="45720" cy="10241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65776" y="2523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B3A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65776" y="2779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8F2"/>
                </a:solidFill>
              </a:rPr>
              <a:t>Constitutional AI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65776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4A8"/>
                </a:solidFill>
              </a:rPr>
              <a:t>How safety is baked into Claude's DNA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19472" y="3657600"/>
            <a:ext cx="3942638" cy="1024128"/>
          </a:xfrm>
          <a:prstGeom prst="rect">
            <a:avLst/>
          </a:prstGeom>
          <a:solidFill>
            <a:srgbClr val="4A2008"/>
          </a:solidFill>
          <a:ln w="12700">
            <a:solidFill>
              <a:srgbClr val="E87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19472" y="3657600"/>
            <a:ext cx="45720" cy="102412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65776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B3A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65776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8F2"/>
                </a:solidFill>
              </a:rPr>
              <a:t>What Makes Claude Unique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65776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D4A8"/>
                </a:solidFill>
              </a:rPr>
              <a:t>Key differentiators vs other LLMs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ABOUT CLAUDE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What is Claude?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4251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D1A06"/>
                </a:solidFill>
              </a:rPr>
              <a:t>Claude is an AI assistant built by Anthropic — a safety-focused AI company founded in 2021. Claude is designed to be helpful, harmless, and honest, making it one of the most trusted large language models available today.
</a:t>
            </a:r>
            <a:r>
              <a:rPr lang="en-US" sz="1250" dirty="0">
                <a:solidFill>
                  <a:srgbClr val="7A4020"/>
                </a:solidFill>
              </a:rPr>
              <a:t>Anthropic's core mission is the responsible development and maintenance of advanced AI for the long-term benefit of humanity.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66360" y="1170432"/>
            <a:ext cx="1828800" cy="1170432"/>
          </a:xfrm>
          <a:prstGeom prst="rect">
            <a:avLst/>
          </a:prstGeom>
          <a:solidFill>
            <a:srgbClr val="3D1A0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66360" y="1170432"/>
            <a:ext cx="1828800" cy="4572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6636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B3A"/>
                </a:solidFill>
              </a:rPr>
              <a:t>2021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166360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4A8"/>
                </a:solidFill>
              </a:rPr>
              <a:t>Year Anthropic founded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59752" y="1170432"/>
            <a:ext cx="1828800" cy="1170432"/>
          </a:xfrm>
          <a:prstGeom prst="rect">
            <a:avLst/>
          </a:prstGeom>
          <a:solidFill>
            <a:srgbClr val="3D1A0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159752" y="1170432"/>
            <a:ext cx="1828800" cy="4572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59752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B3A"/>
                </a:solidFill>
              </a:rPr>
              <a:t>#1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59752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4A8"/>
                </a:solidFill>
              </a:rPr>
              <a:t>Safety-first AI lab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2542032"/>
            <a:ext cx="1828800" cy="1170432"/>
          </a:xfrm>
          <a:prstGeom prst="rect">
            <a:avLst/>
          </a:prstGeom>
          <a:solidFill>
            <a:srgbClr val="3D1A0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66360" y="2542032"/>
            <a:ext cx="1828800" cy="4572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6636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B3A"/>
                </a:solidFill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166360" y="3218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4A8"/>
                </a:solidFill>
              </a:rPr>
              <a:t>Model tiers available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59752" y="2542032"/>
            <a:ext cx="1828800" cy="1170432"/>
          </a:xfrm>
          <a:prstGeom prst="rect">
            <a:avLst/>
          </a:prstGeom>
          <a:solidFill>
            <a:srgbClr val="3D1A0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59752" y="2542032"/>
            <a:ext cx="1828800" cy="4572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59752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B3A"/>
                </a:solidFill>
              </a:rPr>
              <a:t>6+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59752" y="3218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D4A8"/>
                </a:solidFill>
              </a:rPr>
              <a:t>Products in ecosystem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531352" cy="749808"/>
          </a:xfrm>
          <a:prstGeom prst="rect">
            <a:avLst/>
          </a:prstGeom>
          <a:solidFill>
            <a:srgbClr val="3D1A06"/>
          </a:solidFill>
          <a:ln w="12700">
            <a:solidFill>
              <a:srgbClr val="3D1A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54864" cy="74980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1792" y="384048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AD4A8"/>
                </a:solidFill>
              </a:rPr>
              <a:t>"Being helpful, harmless, and honest isn't a constraint — it's the goal."   — Anthropic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 FAMILY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Claude Model Tiers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6072" y="1316736"/>
            <a:ext cx="1444752" cy="24688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31673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FAST &amp; LIGHT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76072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1A06"/>
                </a:solidFill>
              </a:rPr>
              <a:t>Claude Haiku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20665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654A"/>
                </a:solidFill>
              </a:rPr>
              <a:t>claude-haiku-4-5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" y="2350008"/>
            <a:ext cx="241401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6072" y="2423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The fastest, most compact model. Ideal for real-time applications, high-volume pipelines, customer support, and any use case where speed and cost matter most.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51129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8952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Real-time chat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78561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8952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Classification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05993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8952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Summarisation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8952" y="4297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Cost-efficient pipelines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17043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56432" y="1316736"/>
            <a:ext cx="1444752" cy="24688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56432" y="131673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BALANCED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56432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1A06"/>
                </a:solidFill>
              </a:rPr>
              <a:t>Claude Sonnet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56432" y="20665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654A"/>
                </a:solidFill>
              </a:rPr>
              <a:t>claude-sonnet-4-6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56432" y="2350008"/>
            <a:ext cx="241401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56432" y="2423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The sweet spot of intelligence and speed. Best for everyday use, coding, analysis, writing, and complex reasoning at production scale.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351129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39312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Code generation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378561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39312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405993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39312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Long-form writing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0" y="433425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39312" y="4297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Agentic workflows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117043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336792" y="1316736"/>
            <a:ext cx="1444752" cy="246888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36792" y="131673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MOST CAPABLE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36792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1A06"/>
                </a:solidFill>
              </a:rPr>
              <a:t>Claude Opus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336792" y="20665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654A"/>
                </a:solidFill>
              </a:rPr>
              <a:t>claude-opus-4-6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36792" y="2350008"/>
            <a:ext cx="241401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36792" y="2423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Anthropic's most powerful model. Tackles the most nuanced, multi-step tasks — advanced research, complex reasoning, and frontier-level coding challenges.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51129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9672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Deep research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378561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19672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Complex reasoning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405993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519672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Strategic planning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55080" y="433425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9672" y="4297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A06"/>
                </a:solidFill>
              </a:rPr>
              <a:t>Advanced coding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8912" y="4875569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654A"/>
                </a:solidFill>
              </a:rPr>
              <a:t>All models: 200K token context  ·  Vision  ·  Tool use  ·  Streaming  ·  Batch API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PRODUCTS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The Claude Product Ecosystem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Claude.ai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784" y="164592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7784" y="170078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Consumer web and mobile chat interface. Supports Projects, Artifacts, image generation, web search, and memory.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64408" y="118872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10712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Claude 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10712" y="164592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10712" y="170078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Build custom AI apps via REST. Python and TypeScript SDKs. Supports tool use, streaming, vision, and batch processing.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7336" y="118872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17336" y="118872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63640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Claude Code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170078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Agentic CLI and desktop tool for developers. Reads and edits codebases, runs tests, writes commits, and opens PRs.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15468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" y="3282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Claude Cowork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57784" y="361188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57784" y="366674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Desktop automation for non-developers. Manages files and tasks; orchestrates Excel, Chrome, and PowerPoint agents.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315468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64408" y="315468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10712" y="3282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Claude in Chrome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410712" y="361188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10712" y="366674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Beta browser agent. Navigates the web, fills forms, and completes multi-step online tasks on your behalf.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17336" y="315468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17336" y="315468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3640" y="32826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Claude in Excel &amp; PowerPoint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361188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63640" y="366674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Spreadsheet and slides agents. Generate charts, clean data, build presentations using natural language.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1A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 CODE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2"/>
                </a:solidFill>
              </a:rPr>
              <a:t>Claude Code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AD4A8"/>
                </a:solidFill>
              </a:rPr>
              <a:t>Agentic coding assistant that lives in your terminal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99616"/>
            <a:ext cx="4251960" cy="969264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499616"/>
            <a:ext cx="45720" cy="969264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7784" y="1627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8F2"/>
                </a:solidFill>
              </a:rPr>
              <a:t>Reads entire codebases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7784" y="19568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D4A8"/>
                </a:solidFill>
              </a:rPr>
              <a:t>Understands your full repo structure, imports, and dependencies — no need to paste snippets.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18888" y="1499616"/>
            <a:ext cx="4169664" cy="969264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18888" y="1499616"/>
            <a:ext cx="45720" cy="969264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65192" y="1627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8F2"/>
                </a:solidFill>
              </a:rPr>
              <a:t>Writes and edits files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65192" y="19568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D4A8"/>
                </a:solidFill>
              </a:rPr>
              <a:t>Applies precise multi-file changes in one coherent diff, with full context awareness.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4251960" cy="969264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596896"/>
            <a:ext cx="45720" cy="969264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" y="27249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8F2"/>
                </a:solidFill>
              </a:rPr>
              <a:t>Runs tests and linting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7784" y="30540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D4A8"/>
                </a:solidFill>
              </a:rPr>
              <a:t>Executes your test suite, reads failure messages, and automatically fixes the underlying issues.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2596896"/>
            <a:ext cx="4169664" cy="969264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18888" y="2596896"/>
            <a:ext cx="45720" cy="969264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65192" y="27249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8F2"/>
                </a:solidFill>
              </a:rPr>
              <a:t>Git-aware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65192" y="30540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D4A8"/>
                </a:solidFill>
              </a:rPr>
              <a:t>Creates branches, writes meaningful commit messages, and opens pull requests — all from chat.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94176"/>
            <a:ext cx="4251960" cy="969264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3694176"/>
            <a:ext cx="45720" cy="969264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57784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8F2"/>
                </a:solidFill>
              </a:rPr>
              <a:t>MCP server support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7784" y="41513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D4A8"/>
                </a:solidFill>
              </a:rPr>
              <a:t>Connects to Jira, Linear, GitHub, Figma, Notion, and more via the open MCP protocol.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18888" y="3694176"/>
            <a:ext cx="4169664" cy="969264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18888" y="3694176"/>
            <a:ext cx="45720" cy="969264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65192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8F2"/>
                </a:solidFill>
              </a:rPr>
              <a:t>Extended thinking mode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65192" y="41513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D4A8"/>
                </a:solidFill>
              </a:rPr>
              <a:t>Uses chain-of-thought reasoning on hard architecture decisions before taking any action.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736592"/>
            <a:ext cx="8577072" cy="310896"/>
          </a:xfrm>
          <a:prstGeom prst="rect">
            <a:avLst/>
          </a:prstGeom>
          <a:solidFill>
            <a:srgbClr val="4A2008"/>
          </a:solidFill>
          <a:ln w="12700">
            <a:solidFill>
              <a:srgbClr val="C4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" y="47365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7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PRICING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Plans for Every Need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152144"/>
            <a:ext cx="202996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1A06"/>
                </a:solidFill>
              </a:rPr>
              <a:t>Free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A06"/>
                </a:solidFill>
              </a:rPr>
              <a:t>$0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forever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719072" cy="18288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49808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Access to Claude Sonnet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999232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29260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Limited daily usage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419856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3467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Web and mobile access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840480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" y="37673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Basic Projects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1152144"/>
            <a:ext cx="2029968" cy="3767328"/>
          </a:xfrm>
          <a:prstGeom prst="rect">
            <a:avLst/>
          </a:prstGeom>
          <a:solidFill>
            <a:srgbClr val="3D1A06"/>
          </a:solidFill>
          <a:ln w="12700">
            <a:solidFill>
              <a:srgbClr val="E87B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51176" y="1152144"/>
            <a:ext cx="2029968" cy="310896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51176" y="115214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15768" y="1536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B3A"/>
                </a:solidFill>
              </a:rPr>
              <a:t>Pro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15768" y="18836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8F2"/>
                </a:solidFill>
              </a:rPr>
              <a:t>$20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15768" y="2395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9070"/>
                </a:solidFill>
              </a:rPr>
              <a:t>per month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15768" y="2688336"/>
            <a:ext cx="1719072" cy="18288"/>
          </a:xfrm>
          <a:prstGeom prst="rect">
            <a:avLst/>
          </a:prstGeom>
          <a:solidFill>
            <a:srgbClr val="5C2A0A"/>
          </a:solidFill>
          <a:ln w="12700">
            <a:solidFill>
              <a:srgbClr val="5C2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34056" y="2852928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16936" y="27797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D4A8"/>
                </a:solidFill>
              </a:rPr>
              <a:t>5x more usage than Free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34056" y="3273552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16936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D4A8"/>
                </a:solidFill>
              </a:rPr>
              <a:t>All model tiers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34056" y="3694176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916936" y="36210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D4A8"/>
                </a:solidFill>
              </a:rPr>
              <a:t>Priority access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34056" y="4114800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16936" y="4041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D4A8"/>
                </a:solidFill>
              </a:rPr>
              <a:t>Extended Projects and context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34056" y="4535424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16936" y="44622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D4A8"/>
                </a:solidFill>
              </a:rPr>
              <a:t>Image generation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18304" y="1152144"/>
            <a:ext cx="202996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82896" y="1261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1A06"/>
                </a:solidFill>
              </a:rPr>
              <a:t>Team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882896" y="1609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A06"/>
                </a:solidFill>
              </a:rPr>
              <a:t>$25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882896" y="2121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per user / month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82896" y="2414016"/>
            <a:ext cx="1719072" cy="18288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901184" y="2578608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84064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Everything in Pro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01184" y="2999232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084064" y="29260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Shared team Projects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01184" y="3419856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084064" y="33467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Admin dashboard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01184" y="3840480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084064" y="37673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Longer context windows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01184" y="4261104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84064" y="4187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Collaboration features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85432" y="1152144"/>
            <a:ext cx="202996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050024" y="1261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1A06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050024" y="1609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A06"/>
                </a:solidFill>
              </a:rPr>
              <a:t>Custom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7050024" y="2121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contact sales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050024" y="2414016"/>
            <a:ext cx="1719072" cy="18288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068312" y="2578608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251192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Unlimited usage (SLA)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068312" y="2999232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251192" y="29260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SSO and SCIM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68312" y="3419856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251192" y="33467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Custom system prompts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68312" y="3840480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251192" y="37673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Dedicated support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068312" y="4261104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251192" y="4187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Advanced security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SAFETY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Constitutional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5A1A"/>
                </a:solidFill>
              </a:rPr>
              <a:t>Safety baked in from day one, not bolted 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295144"/>
            <a:ext cx="18288" cy="109728"/>
          </a:xfrm>
          <a:prstGeom prst="rect">
            <a:avLst/>
          </a:prstGeom>
          <a:solidFill>
            <a:srgbClr val="E87B3A">
              <a:alpha val="45000"/>
            </a:srgbClr>
          </a:solidFill>
          <a:ln w="12700">
            <a:solidFill>
              <a:srgbClr val="E87B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5488" y="1673352"/>
            <a:ext cx="310896" cy="31089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A06"/>
                </a:solidFill>
              </a:rPr>
              <a:t>Supervised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9110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Claude is initially trained on human feedback to be genuinely helpful.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" y="3172968"/>
            <a:ext cx="18288" cy="109728"/>
          </a:xfrm>
          <a:prstGeom prst="rect">
            <a:avLst/>
          </a:prstGeom>
          <a:solidFill>
            <a:srgbClr val="E87B3A">
              <a:alpha val="45000"/>
            </a:srgbClr>
          </a:solidFill>
          <a:ln w="12700">
            <a:solidFill>
              <a:srgbClr val="E87B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" y="2551176"/>
            <a:ext cx="310896" cy="31089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478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A06"/>
                </a:solidFill>
              </a:rPr>
              <a:t>Self-critique via Constitution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788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Claude reviews its own outputs against written principles: honesty, harmlessness, helpfulness.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" y="4050792"/>
            <a:ext cx="18288" cy="109728"/>
          </a:xfrm>
          <a:prstGeom prst="rect">
            <a:avLst/>
          </a:prstGeom>
          <a:solidFill>
            <a:srgbClr val="E87B3A">
              <a:alpha val="45000"/>
            </a:srgbClr>
          </a:solidFill>
          <a:ln w="12700">
            <a:solidFill>
              <a:srgbClr val="E87B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" y="3429000"/>
            <a:ext cx="310896" cy="31089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A06"/>
                </a:solidFill>
              </a:rPr>
              <a:t>Revision without human labels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6667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Claude revises harmful responses using its own critique, reducing reliance on human labellers.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4306824"/>
            <a:ext cx="310896" cy="31089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233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A06"/>
                </a:solidFill>
              </a:rPr>
              <a:t>RLAIF — RL from AI Feedback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7A4020"/>
                </a:solidFill>
              </a:rPr>
              <a:t>Reinforcement learning uses Claude's own ranked preferences rather than purely human ones.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30368" y="1463040"/>
            <a:ext cx="3520440" cy="3401568"/>
          </a:xfrm>
          <a:prstGeom prst="rect">
            <a:avLst/>
          </a:prstGeom>
          <a:solidFill>
            <a:srgbClr val="FDECD8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230368" y="1463040"/>
            <a:ext cx="3520440" cy="347472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30368" y="1463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Principles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1993392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7784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Be genuinely helpful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94960" y="2340864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57784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Never deceive or manipulate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4960" y="268833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577840" y="2615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Avoid harmful content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94960" y="3035808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577840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Respect human autonomy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94960" y="3383280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57784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Acknowledge uncertainty honestly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94960" y="3730752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57784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Support human oversight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94960" y="4078224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57784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Protect user privacy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94960" y="4425696"/>
            <a:ext cx="91440" cy="91440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577840" y="4352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1A06"/>
                </a:solidFill>
              </a:rPr>
              <a:t>Be transparent about being AI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DIFFERENTIATORS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What Makes Claude Unique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7784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200K Context Window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784" y="164592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7784" y="170078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Process entire codebases, long research papers, or lengthy documents in a single prompt — far beyond most rivals.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64408" y="118872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10712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Genuine Honesty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10712" y="164592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10712" y="170078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Claude admits uncertainty rather than hallucinating. It prefers saying 'I don't know' over confidently fabricating an answer.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7336" y="118872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17336" y="1188720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63640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Constitutional AI Safety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170078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Safety is trained via self-critique, not just RLHF — producing a model that reasons about ethics rather than just following rules.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127248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127248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" y="32552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Nuanced Reasoning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57784" y="3584448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57784" y="3639312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Extended thinking mode lets Claude reason deeply before responding, delivering chain-of-thought quality without extra prompting.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3127248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64408" y="3127248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10712" y="32552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Tone and Writing Quality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410712" y="3584448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10712" y="3639312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Widely recognised for clear, natural prose. Preferred by writers, researchers, and communicators over competing models.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17336" y="3127248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17336" y="3127248"/>
            <a:ext cx="45720" cy="178308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3640" y="32552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1A06"/>
                </a:solidFill>
              </a:rPr>
              <a:t>MCP Ecosystem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3584448"/>
            <a:ext cx="2459736" cy="20117"/>
          </a:xfrm>
          <a:prstGeom prst="rect">
            <a:avLst/>
          </a:prstGeom>
          <a:solidFill>
            <a:srgbClr val="F0D0B0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63640" y="3639312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4020"/>
                </a:solidFill>
              </a:rPr>
              <a:t>Native Model Context Protocol support connects Claude to Jira, GitHub, Figma, Notion, and any custom service via open standards.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INTEGRATIONS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54864" cy="457200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1A06"/>
                </a:solidFill>
              </a:rPr>
              <a:t>Model Context Protocol (MCP)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11338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5A1A"/>
                </a:solidFill>
              </a:rPr>
              <a:t>The open standard that lets Claude connect to any tool, service, or data 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0" cy="3154680"/>
          </a:xfrm>
          <a:prstGeom prst="rect">
            <a:avLst/>
          </a:prstGeom>
          <a:solidFill>
            <a:srgbClr val="FDECD8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200400" cy="347472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MCP?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2084832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4672" y="202996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Open standard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Built on JSON-RPC 2.0, open-source and free for anyone to implement.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2761488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270662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Universal connector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9626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Any service can publish an MCP server in any programming language.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" y="3438144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4672" y="338328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Two-way bridge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6393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Claude reads data AND takes actions inside the connected tools.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" y="4114800"/>
            <a:ext cx="109728" cy="10972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4672" y="4059936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Secure and scoped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431596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4020"/>
                </a:solidFill>
              </a:rPr>
              <a:t>Each MCP server exposes only the permissions it explicitly grants.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13632" y="1554480"/>
            <a:ext cx="4828032" cy="347472"/>
          </a:xfrm>
          <a:prstGeom prst="rect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13632" y="1554480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Connected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13632" y="201168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041648" y="2176272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15968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GitHub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15968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Code and pull requests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27648" y="201168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55664" y="2176272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29984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Jira / Linear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9984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Issue tracking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13632" y="267004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041648" y="2834640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15968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Figma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15968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Design files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267004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55664" y="2834640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729984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Notion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9984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Docs and wikis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13632" y="3328416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041648" y="3493008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315968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Slack &amp; Email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15968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Communication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27648" y="3328416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455664" y="3493008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29984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Databases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29984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SQL and NoSQL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3632" y="3986784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041648" y="4151376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315968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Browsers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315968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Web automation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27648" y="3986784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55664" y="4151376"/>
            <a:ext cx="201168" cy="201168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729984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1A06"/>
                </a:solidFill>
              </a:rPr>
              <a:t>Custom APIs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29984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654A"/>
                </a:solidFill>
              </a:rPr>
              <a:t>REST or GraphQL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8463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654A"/>
                </a:solidFill>
              </a:rPr>
              <a:t>MCP is open-source and built on JSON-RPC 2.0  ·  Any developer can publish an MCP server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A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5303520" cy="5303520"/>
          </a:xfrm>
          <a:prstGeom prst="line">
            <a:avLst/>
          </a:prstGeom>
          <a:solidFill>
            <a:srgbClr val="C45A1A">
              <a:alpha val="16000"/>
            </a:srgbClr>
          </a:solidFill>
          <a:ln w="12700">
            <a:solidFill>
              <a:srgbClr val="C45A1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949440" y="-1463040"/>
            <a:ext cx="3840480" cy="3840480"/>
          </a:xfrm>
          <a:prstGeom prst="line">
            <a:avLst/>
          </a:prstGeom>
          <a:solidFill>
            <a:srgbClr val="E87B3A">
              <a:alpha val="20000"/>
            </a:srgbClr>
          </a:solidFill>
          <a:ln w="12700">
            <a:solidFill>
              <a:srgbClr val="E87B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7B3A"/>
                </a:solidFill>
              </a:rPr>
              <a:t>ANTHROPIC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33856"/>
            <a:ext cx="80467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8F2"/>
                </a:solidFill>
              </a:rPr>
              <a:t>The Claude Ecosystem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8F2"/>
                </a:solidFill>
              </a:rPr>
              <a:t>at Glance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58368" y="2962656"/>
            <a:ext cx="128016" cy="12801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2871216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4A8"/>
                </a:solidFill>
              </a:rPr>
              <a:t>Three tiers — Haiku, Sonnet, and Opus — covering every speed, cost, and capability need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328416"/>
            <a:ext cx="128016" cy="12801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3236976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4A8"/>
                </a:solidFill>
              </a:rPr>
              <a:t>Six products: Claude.ai, API, Code, Cowork, Chrome agent, Excel and PowerPoint 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694176"/>
            <a:ext cx="128016" cy="12801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6112" y="3602736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4A8"/>
                </a:solidFill>
              </a:rPr>
              <a:t>Pricing from Free through Pro ($20), Team ($25/user), to Enterprise with custom SLAs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4059936"/>
            <a:ext cx="128016" cy="12801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6112" y="3968496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4A8"/>
                </a:solidFill>
              </a:rPr>
              <a:t>Constitutional AI delivers safety by design — self-critique, not just human labelling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4425696"/>
            <a:ext cx="128016" cy="128016"/>
          </a:xfrm>
          <a:prstGeom prst="line">
            <a:avLst/>
          </a:prstGeom>
          <a:solidFill>
            <a:srgbClr val="E87B3A"/>
          </a:solidFill>
          <a:ln w="12700">
            <a:solidFill>
              <a:srgbClr val="E8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6112" y="4334256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4A8"/>
                </a:solidFill>
              </a:rPr>
              <a:t>Open MCP protocol connects Claude to GitHub, Jira, Figma, Notion, and any custom tool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7955280" cy="20117"/>
          </a:xfrm>
          <a:prstGeom prst="rect">
            <a:avLst/>
          </a:prstGeom>
          <a:solidFill>
            <a:srgbClr val="5C2A0A"/>
          </a:solidFill>
          <a:ln w="12700">
            <a:solidFill>
              <a:srgbClr val="5C2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7731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9070"/>
                </a:solidFill>
              </a:rPr>
              <a:t>anthropic.com  ·  docs.claude.com  ·  support.claude.com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1338</Words>
  <Application>Microsoft Office PowerPoint</Application>
  <PresentationFormat>On-screen Show (16:9)</PresentationFormat>
  <Paragraphs>236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Claude Ecosystem</dc:title>
  <dc:subject>PptxGenJS Presentation</dc:subject>
  <dc:creator>PptxGenJS</dc:creator>
  <cp:lastModifiedBy>Harsh Dalal</cp:lastModifiedBy>
  <cp:revision>5</cp:revision>
  <dcterms:created xsi:type="dcterms:W3CDTF">2026-04-25T03:05:31Z</dcterms:created>
  <dcterms:modified xsi:type="dcterms:W3CDTF">2026-05-13T04:41:16Z</dcterms:modified>
</cp:coreProperties>
</file>