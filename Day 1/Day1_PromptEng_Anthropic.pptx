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77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1:</a:t>
            </a:r>
            <a:endParaRPr lang="en-US" sz="5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5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13232" y="409651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prompting with the Python SDK  ·  Prompt template libraries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 ·  Conditional logic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authenticate, and make your first API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few-shot, chain-of-thought &amp; beyond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Library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parameterised templates in Python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pipelines where outputs feed inputs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and routing based on model responses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build: SDK → templates → chaining → routing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Prompt Engineering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33472" cy="181051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Boost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structured, well-crafted prompts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188720"/>
            <a:ext cx="2633472" cy="181051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10128" y="1261872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10128" y="206654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35915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precise, constrained instructions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2633472" cy="181051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63056" y="1261872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63056" y="206654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Pipelines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63056" y="235915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chaining &amp; conditional routing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148132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64008" cy="14813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" y="3154680"/>
            <a:ext cx="78181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model is only as good as the instructions it receives.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is the craft of writing those instructions."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Up the Anthropic Python SDK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27101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5910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27101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anthropic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93192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16712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4871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16712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 env var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393192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0632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3383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3063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anthropic.Anthropic()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393192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8368" y="395935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4279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395935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client.messages.create()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170432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36592" y="1298448"/>
            <a:ext cx="40050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
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anthropic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anthropic, os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Initialise client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anthropic.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api_key=os.environ[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"ANTHROPIC_API_KEY"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)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API call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"claude-sonnet-4-20250514"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max_tokens=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Prompt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persona, output format &amp; constraints at the system level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model with labelled input–output examples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step-by-step reasoning before answering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Specification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expert identity to unlock domain reasoning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Injection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format rules, word limits &amp; schema directly in the prompt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multiple completions and pick the majority answer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01 — SYSTEM PROMPTS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Prompts — The Control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804672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14600" y="14081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constraints · output format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371600" y="1993392"/>
            <a:ext cx="73152" cy="24688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920240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24597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query from the end user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71600" y="3044952"/>
            <a:ext cx="73152" cy="24688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1920240" cy="804672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35112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shaped by the system prompt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1170432"/>
            <a:ext cx="4023360" cy="3694176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10912" y="1248156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You are a senior Python developer.
Rules:
- Reply ONLY with code
- Add inline comments
- Use type hints
"""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"claude-sonnet-4-20250514"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max_tokens=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user_input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02 — FEW-SHOT PROMPTING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Prompting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labelled examples so the model learns your desired format and style.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6499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labelled examples
</a:t>
            </a:r>
            <a:r>
              <a:rPr lang="en-US" sz="11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r>
              <a:rPr lang="en-US" sz="1100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{"role":"user",      "content":"Classify: Great product!"},
  {"role":"assistant", "content":"Sentiment: POSITIVE"},
  {"role":"user",      "content":"Classify: Bad experience"},
  {"role":"assistant", "content":"Sentiment: NEGATIVE"},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11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Append the live query
</a:t>
            </a:r>
            <a:r>
              <a:rPr lang="en-US" sz="11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examples + [{</a:t>
            </a:r>
            <a:r>
              <a:rPr lang="en-US" sz="11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f</a:t>
            </a:r>
            <a:r>
              <a:rPr lang="en-US" sz="11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"Classify: {user_text}"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
</a:t>
            </a:r>
            <a:r>
              <a:rPr lang="en-US" sz="11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r>
              <a:rPr lang="en-US" sz="11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(model=</a:t>
            </a:r>
            <a:r>
              <a:rPr lang="en-US" sz="11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"claude-sonnet-4-20250514"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messages=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max_tokens=</a:t>
            </a:r>
            <a:r>
              <a:rPr lang="en-US" sz="11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2–5 examples = stronger format adherence, but more tokens.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03 — CHAIN-OF-THOUGHT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 Prompting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11480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0" cy="324612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664208"/>
            <a:ext cx="3767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"Q: A train travels 120 km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2 hours. What is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its speed?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3108960"/>
            <a:ext cx="3767328" cy="0"/>
          </a:xfrm>
          <a:prstGeom prst="line">
            <a:avLst/>
          </a:prstGeom>
          <a:noFill/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3200400"/>
            <a:ext cx="37673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60 km/h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4462272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Answer only — no reasoning trace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411480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572768"/>
            <a:ext cx="4114800" cy="324612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65192" y="1664208"/>
            <a:ext cx="3767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"Think step by step.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A train travels 120 km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2 hours. What is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its speed?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D5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5192" y="3108960"/>
            <a:ext cx="3767328" cy="0"/>
          </a:xfrm>
          <a:prstGeom prst="line">
            <a:avLst/>
          </a:prstGeom>
          <a:noFill/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65192" y="3200400"/>
            <a:ext cx="37673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8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Distance = 120 km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8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Time = 2 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8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Speed = 120 ÷ 2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8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60 km/h  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4462272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Traceable, auditable reasoning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2377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9319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reusable, parameterised prompt templates in Python that can be versioned, tested, and shared across your team.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Build a Prompt Template Library?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642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" cy="16642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16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700784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across dozens of tasks — stop copy-pasting prompts into every script.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6642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59436" cy="16642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65192" y="1316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5192" y="1700784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 each template independently before wiring it into a production pipeline.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114800" cy="16642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9436" cy="16642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3191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" y="3575304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prompt changes exactly like code: with Git, PRs, and semantic versioning.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4114800" cy="16642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59436" cy="16642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30632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65192" y="3191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65192" y="3575304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common template registry across your entire engineering and product team.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 —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PromptTemplate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31012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dataclasses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dataclass, field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Template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
class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PromptTemplate: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str;  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str;  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user_template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dict = field(default_factory=dict)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**kwargs) -&gt; dict: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{**self.defaults, **kwargs}
        return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self.system,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Template(self.user_template).substitute(p)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@dataclass gives free __repr__, __eq__ and IDE autocomplete on every template field.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 — REGISTRY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Registry — Register &amp; Execute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11480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templates/registry.py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536192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PromptTemplate(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"1.2"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concise summariser."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user_template=(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 in $words words:\n$text"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defaults={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"words"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"100"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70432"/>
            <a:ext cx="411480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19472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19472" y="1536192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REGISTRY[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tmpl.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text=article_text,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words=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"50"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override
)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"claude-sonnet-4-20250514"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system=prompt[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:prompt[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max_tokens=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87452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5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Chaining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multiple model calls so each step's output becomes the next step's input — creating powerful, auditable pipelines.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Prompt Chaining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920240" cy="117043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664208"/>
            <a:ext cx="219456" cy="1645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395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70432"/>
            <a:ext cx="1920240" cy="1170432"/>
          </a:xfrm>
          <a:prstGeom prst="rect">
            <a:avLst/>
          </a:prstGeom>
          <a:solidFill>
            <a:srgbClr val="4A2C1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14600" y="117043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664208"/>
            <a:ext cx="219456" cy="1645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14600" y="2395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1920240" cy="1170432"/>
          </a:xfrm>
          <a:prstGeom prst="rect">
            <a:avLst/>
          </a:prstGeom>
          <a:solidFill>
            <a:srgbClr val="CC5A1F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117043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664208"/>
            <a:ext cx="219456" cy="1645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63440" y="2395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170432"/>
            <a:ext cx="1920240" cy="117043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12280" y="117043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2395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output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8229600" cy="21762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697480"/>
            <a:ext cx="786384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extract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call_claude(REGISTRY[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"extract"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].render(text=text))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analyse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call_claude(REGISTRY[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"analyse"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].render(entities=entities))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 — format &amp; return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call_claude(REGISTRY[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"format"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].render(analysis=analysis))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Logic — Routing Responses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model's output and branch to different downstream templates or actions.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327355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499616"/>
            <a:ext cx="78638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route_by_intent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(user_msg: str) -&gt; str: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intent_raw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call_claude(REGISTRY[</a:t>
            </a:r>
            <a:r>
              <a:rPr lang="en-US" sz="11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"intent"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].render(message=user_msg))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intent_raw.strip().</a:t>
            </a:r>
            <a:r>
              <a:rPr lang="en-US" sz="11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routing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"billing" </a:t>
            </a: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intent:  </a:t>
            </a: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billing_handler(user_msg)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"technical" </a:t>
            </a: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intent: </a:t>
            </a: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technical_handler(user_msg)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"complaint" </a:t>
            </a: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intent: </a:t>
            </a: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escalate_to_human(user_msg)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  </a:t>
            </a:r>
            <a:r>
              <a:rPr lang="en-US" sz="11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general_handler(user_msg)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4250" y="46725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validate and sanitise model output before using it as a routing key.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 —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Conditional Routing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17043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572768"/>
            <a:ext cx="2697480" cy="320040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6642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Routing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" y="214884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intent first (support / billing / sales)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95351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specialised prompt template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3758184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has its own system prompt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1170432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82112" y="117043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82112" y="1572768"/>
            <a:ext cx="2697480" cy="320040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19272" y="16642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Gate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9272" y="214884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model for confidence score (0–10)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295351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→ proceed automatically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9272" y="3758184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human review queue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6752" y="1170432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16752" y="117043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6752" y="1572768"/>
            <a:ext cx="2697480" cy="320040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53912" y="16642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53912" y="214884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structured JSON from the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53912" y="295351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Pydantic schema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53912" y="3758184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 → retry with correction prompt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pipeline combining SDK, templates, chaining and conditional routing: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60674"/>
            <a:ext cx="1572768" cy="594360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560674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92808" y="1807562"/>
            <a:ext cx="164592" cy="1097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57400" y="1560674"/>
            <a:ext cx="1572768" cy="594360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57400" y="1560674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Template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30168" y="1807562"/>
            <a:ext cx="164592" cy="1097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94760" y="1560674"/>
            <a:ext cx="1572768" cy="59436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94760" y="1560674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Decision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67528" y="1807562"/>
            <a:ext cx="164592" cy="1097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32120" y="1560674"/>
            <a:ext cx="1572768" cy="594360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32120" y="1560674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Template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04888" y="1807562"/>
            <a:ext cx="164592" cy="1097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69480" y="1560674"/>
            <a:ext cx="1572768" cy="594360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69480" y="1560674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92194"/>
            <a:ext cx="8549640" cy="222494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2411066"/>
            <a:ext cx="7863840" cy="2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run_pipeline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(user_input: str) -&gt; str: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call_claude(REGISTRY[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].render(msg=user_input))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classify intent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handler_key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route(intent)                              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conditional route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call_claude(REGISTRY[handler_key].render(msg=user_input))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task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call_claude(REGISTRY[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"refine"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].render(draft=draft))    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chain-refine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Exercises — Build Your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Warm-Up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4592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client. Experiment with system prompts, few-shot examples and CoT triggers. Compare outputs.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5146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8036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PromptTemplate &amp; build a registry with 3 templates: summarise, classify, and extract.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490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+ Routing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11480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templates into a 3-step chain. Add intent-based conditional routing between at least 2 branches.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70 min  ·  Work in pairs  ·  Trainer available  ·  Day 1 — Prompt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17043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 is the entry 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56432" y="1170432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Python SDK gives clean access to messages; system prompts and streaming with minimal boilerplate.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9202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compound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92024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+ few-shot + CoT used together dramatically outperform any single technique in isolation.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67004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Templates = velocity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2670048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well-structured template library cuts iteration time and makes prompts reviewable like code.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41985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Chains beat monoliths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56432" y="3419856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complex tasks into simple chained steps improves reliability and makes debugging trivial.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2394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33425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16966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 on 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56432" y="4169664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model output and branch — this is the foundation of every production-grade AI pipeline.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Prompt Engineering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5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57200" y="2980944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29260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5-template prompt library for a domain of your choice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38144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3383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3-step chain with at least one conditional branch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95344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38404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basic error handling and retry logic to your pipeline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52544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4297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README documenting your design decisions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1 — Prompt Engineering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2106</Words>
  <Application>Microsoft Office PowerPoint</Application>
  <PresentationFormat>On-screen Show (16:9)</PresentationFormat>
  <Paragraphs>384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– Prompt Engineering</dc:title>
  <dc:subject>PptxGenJS Presentation</dc:subject>
  <dc:creator>PptxGenJS</dc:creator>
  <cp:lastModifiedBy>Harsh Dalal</cp:lastModifiedBy>
  <cp:revision>3</cp:revision>
  <dcterms:created xsi:type="dcterms:W3CDTF">2026-05-11T11:02:52Z</dcterms:created>
  <dcterms:modified xsi:type="dcterms:W3CDTF">2026-05-15T09:31:03Z</dcterms:modified>
</cp:coreProperties>
</file>