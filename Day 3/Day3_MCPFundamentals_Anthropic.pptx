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5603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spc="6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ANTHROPIC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91440" cy="320040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749808"/>
            <a:ext cx="621792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3: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5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Fundamentals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713232" y="4133088"/>
            <a:ext cx="6858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architecture  ·  Tools, resources &amp; prompts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an MCP server from scratch in Python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 Will Cover Today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MCP?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 not API — how Claude connects to your services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800600" y="1188720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0600" y="1188720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2801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572768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37760" y="1901952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Host, client, server — the three-layer model explained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943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MCP Tools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943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Callable functions Claude can invoke with typed args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450592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800600" y="2450592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254203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Resources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163824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files and data as readable context for Claude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943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Prompts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943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prompt templates the host invokes as /commands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800600" y="3712464"/>
            <a:ext cx="41148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3712464"/>
            <a:ext cx="59436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937760" y="380390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37760" y="40965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Exercises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937760" y="4425696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→ resources → prompts → connect to Claude Desktop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MCP?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411480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MCP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4114800" cy="230428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4996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glue code per tool per model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" y="2029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standard way to expose data or 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Re-implement auth, transport, error handling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090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are model-specific and non-reusable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00600" y="1005840"/>
            <a:ext cx="411480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00600" y="1005840"/>
            <a:ext cx="4114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MCP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00600" y="1408176"/>
            <a:ext cx="4114800" cy="2304288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37760" y="1499616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protocol — any server works with Claude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029968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Tools, resources, prompts as first-class objects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256032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and auth handled by the protocol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090672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pPr indent="0" marL="0">
              <a:buNone/>
            </a:pPr>
            <a:r>
              <a:rPr lang="en-US" sz="120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once, connect to any MCP-compatible host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785616"/>
            <a:ext cx="8229600" cy="621792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785616"/>
            <a:ext cx="64008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8368" y="3785616"/>
            <a:ext cx="78181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is USB-C for AI — one protocol, any model, any tool, any data source.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Architecture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Host, client, server — the three-layer model explained.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ARCHITECTURE — THREE-LAYER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MCP Three-Layer Model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2468880" cy="804672"/>
          </a:xfrm>
          <a:prstGeom prst="rect">
            <a:avLst/>
          </a:prstGeom>
          <a:solidFill>
            <a:srgbClr val="3A1A0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(Claude Desktop / App)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468880" cy="804672"/>
          </a:xfrm>
          <a:prstGeom prst="rect">
            <a:avLst/>
          </a:prstGeom>
          <a:solidFill>
            <a:srgbClr val="CC5A1F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91840" y="100584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CLIENT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(built into Claude)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0" y="1005840"/>
            <a:ext cx="2468880" cy="804672"/>
          </a:xfrm>
          <a:prstGeom prst="rect">
            <a:avLst/>
          </a:prstGeom>
          <a:solidFill>
            <a:srgbClr val="4A2C18"/>
          </a:solidFill>
          <a:ln w="6350">
            <a:solidFill>
              <a:srgbClr val="4A2C1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0" y="1005840"/>
            <a:ext cx="246888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(your code)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107899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5760720" y="1078992"/>
            <a:ext cx="4572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/ SSE</a:t>
            </a:r>
            <a:endParaRPr lang="en-US" sz="800" dirty="0"/>
          </a:p>
          <a:p>
            <a:pPr algn="ctr" indent="0" marL="0">
              <a:buNone/>
            </a:pPr>
            <a:r>
              <a:rPr lang="en-US" sz="8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" y="1993392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1993392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1993392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" y="2103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responsibilities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1792" y="245059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Launches MCP clients, presents tool results to the user, manages connections.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00600" y="1993392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00600" y="1993392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00600" y="1993392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65192" y="21031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responsibilities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65192" y="245059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client per server. Negotiates capabilities on connect. Forwards tool calls.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3364992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364992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364992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21792" y="3474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responsibilities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21792" y="382219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Declares tools, resources, and prompts. Executes them when called. Your code.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800600" y="3364992"/>
            <a:ext cx="4114800" cy="1207008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800600" y="3364992"/>
            <a:ext cx="59436" cy="1207008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364992"/>
            <a:ext cx="4114800" cy="5486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65192" y="3474720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options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65192" y="3822192"/>
            <a:ext cx="3749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stdio for local servers (subprocess). SSE or HTTP+SSE for remote servers.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ARCHITECTURE — PROTOCOL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MCP Protocol in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JSON-RPC 2.0 over stdio or SSE. Every interaction follows a typed request-response pattern.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1. Client sends initialize on first connect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{"jsonrpc":"2.0","method":"initialize",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"params":{"protocolVersion":"2024-11-05",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"capabilities":{"tools":{},"resources":{}}}}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2. Host asks server to list available tools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{"jsonrpc":"2.0","id":1,"method":"tools/list"}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3. Claude decides to call your tool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{"jsonrpc":"2.0","id":2,"method":"tools/call",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"params":{"name":"get_weather",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"arguments":{"city":"London"}}}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4. Your server returns the result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{"jsonrpc":"2.0","id":2,"result":{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"content":[{"type":"text",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"text":"London: 14°C, overcast"}]}}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The MCP Python SDK handles all JSON-RPC framing — you never write this by hand.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2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Building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Tools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typed Python functions Claude can call as tools.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TOOLS — SERVER SETUP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 Setup &amp; Project Structure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SDK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 install mcp — FastMCP, types and CLI in one package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server file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my_server.py, import FastMCP, name the server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primitives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Decorate functions: @mcp.tool(), @mcp.resource(), @mcp.prompt()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or test locally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dev my_server.py — live reload + MCP Inspector UI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my_server.py — skeleton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pip install mcp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mcp.server.fastmcp 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FastMCP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FastMCP(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"weather-server"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Register your tools here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ping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str: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"""Check alive."""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"pong"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__name__ == 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"__main__"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mcp.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 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stdio
</a:t>
            </a:r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Dev: mcp dev my_server.py
</a:t>
            </a:r>
            <a:pPr indent="0" marL="0">
              <a:buNone/>
            </a:pPr>
            <a:r>
              <a:rPr lang="en-US" sz="1000" i="1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Call: mcp call ping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TOOLS — @MCP.TOOL()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Implementing MCP Tools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decorated Python function becomes a tool Claude can call — docstring is the description.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mcp.server.fastmcp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FastMCP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FastMCP(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"demo"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(a: int, b: int) -&gt; str: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"""Add two numbers and return the result."""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"{a} + {b} = {a + b}"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greet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(name: str, formal: bool =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str: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"""Greet someone. formal=True for professional tone."""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"Good day, 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if formal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else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"Hello, 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"{p}{name}!"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word_count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(text: str) -&gt; str: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"""Count words and characters in text."""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"{len(text.split())} words, {len(text)} chars"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The docstring IS the tool description Claude sees — write it as a clear instruction.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TOOLS — ASYNC &amp; EXTERNAL CALLS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with External Calls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strings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return str, list[str], or MCP content — never raw dicts or None.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errors cleanly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all exceptions and return a descriptive string — never let tools crash.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tool, one job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 many small focused tools over one large multi-action tool.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 for all I/O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async def + await for any network or file I/O to avoid blocking.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Async tool calling an API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httpx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def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get_weather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(city: str):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"""Get weather for a city."""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try: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async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with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httpx.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AsyncClient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as c: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await c.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"wttr.in",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params={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"city"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:city,
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"format"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pPr indent="0" marL="0">
              <a:buNone/>
            </a:pPr>
            <a:r>
              <a:rPr lang="en-US" sz="100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return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r.text.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strip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except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Exception 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e: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"Error: {e}"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3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Resources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Expose files, data, and live content as readable context.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RESOURCES — STATIC &amp; DYNAMIC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Implementing MCP Resources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read by Claude as context — not called as actions. URI templates enable dynamic data.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Static — fixed URI, fixed content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"config://app"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app_config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str: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 app configuration as JSON."""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(CONFIG, indent=</a:t>
            </a:r>
            <a:pPr indent="0" marL="0">
              <a:buNone/>
            </a:pPr>
            <a:r>
              <a:rPr lang="en-US" sz="1050" dirty="0">
                <a:solidFill>
                  <a:srgbClr val="E8A8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Dynamic — URI template: param in {braces}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"users://{uid}/profile"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user_profile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(uid: str) -&gt; str: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"""Return JSON profile for uid."""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db.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find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(uid)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not user: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 {uid} not found"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dumps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(user.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to_dict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Resources appear as readable context — Claude reads them, not calls them.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RESOURCES — WHEN TO USE EACH PRIMITIVE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vs Resources vs Prompts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47472" y="1005840"/>
            <a:ext cx="2697480" cy="402336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4747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TOOL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4747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508760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7607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76072" y="179222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that writes, sends, or changes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295144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" y="2322576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calls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76072" y="257860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live data with user-provided args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081528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" y="310896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Computation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76072" y="336499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 on input, file transforms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67912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76072" y="38953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 effects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6072" y="415137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Email, DB writes, webhook triggers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182112" y="1005840"/>
            <a:ext cx="2697480" cy="402336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18211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E8D5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RESOURCE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18211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91840" y="1508760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1071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Read-only data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410712" y="179222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 files, user profiles, docs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291840" y="2295144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10712" y="2322576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410712" y="257860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Background Claude should read first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91840" y="3081528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410712" y="310896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content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410712" y="336499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code, CSV, markdown files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3291840" y="3867912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410712" y="38953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views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3410712" y="415137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DB state for reference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6016752" y="1005840"/>
            <a:ext cx="2697480" cy="402336"/>
          </a:xfrm>
          <a:prstGeom prst="rect">
            <a:avLst/>
          </a:prstGeom>
          <a:solidFill>
            <a:srgbClr val="3A1A08"/>
          </a:solidFill>
          <a:ln w="12700">
            <a:solidFill>
              <a:srgbClr val="3A1A0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016752" y="1005840"/>
            <a:ext cx="2697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200" kern="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A PROMPT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016752" y="1408176"/>
            <a:ext cx="2697480" cy="329184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126480" y="1508760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45352" y="1536192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6245352" y="1792224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prompts with fill-in slots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126480" y="2295144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245352" y="2322576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6245352" y="2578608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task starters for Claude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126480" y="3081528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45352" y="3108960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6245352" y="3364992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Team-agreed prompt patterns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6126480" y="3867912"/>
            <a:ext cx="50292" cy="62179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245352" y="3895344"/>
            <a:ext cx="235915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/commands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6245352" y="4151376"/>
            <a:ext cx="235915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Quick-launch prompts in Claude UI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4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Prompts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Pre-built templates the host exposes as /slash-commands.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PROMPTS — IMPLEMENTATION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Implementing MCP Prompts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return a list of Message objects — Claude uses them as the conversation starter.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mcp.types 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Message, TextContent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prompt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5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code_review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(code: str, language: str =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-&gt; list[Message]: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"""Review code for bugs, style, and security."""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body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(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f"Review this {language} code:\n\n"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f"```{language}\n{code}\n```\n\n"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"Check: bugs, style, perf, security.\n"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"Cite exact line numbers for each issue."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
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content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TextContent(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type=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"text"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text=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body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5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[Message(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role=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"user"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content=</a:t>
            </a:r>
            <a:pPr indent="0" marL="0">
              <a:buNone/>
            </a:pPr>
            <a:r>
              <a:rPr lang="en-US" sz="105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)]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Prompts become /slash-commands in Claude Desktop — name them short and verb-first.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960120"/>
            <a:ext cx="4572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389888"/>
            <a:ext cx="91440" cy="1975104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353312"/>
            <a:ext cx="6217920" cy="19751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Running &amp;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Connecting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713232" y="3401568"/>
            <a:ext cx="6400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Assemble the full server and connect it to Claude Desktop.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&amp; CONNECTING — FULL SERVER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MCP Server — All Primitives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005840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097280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your server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21792" y="1371600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FastMCP() name shows in Claude Desktop — be descriptive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29968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matters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21792" y="2304288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 all decorators before mcp.run(). Register tools first, then resources.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871216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2871216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1792" y="2962656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with mcp dev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" y="3236976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dev my_server.py starts live-reload with the MCP Inspector browser UI.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803904"/>
            <a:ext cx="3931920" cy="804672"/>
          </a:xfrm>
          <a:prstGeom prst="rect">
            <a:avLst/>
          </a:prstGeom>
          <a:solidFill>
            <a:srgbClr val="FAF5EE"/>
          </a:solidFill>
          <a:ln w="15240">
            <a:solidFill>
              <a:srgbClr val="E8D5BF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803904"/>
            <a:ext cx="59436" cy="804672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95344"/>
            <a:ext cx="354787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10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to stderr only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21792" y="4169664"/>
            <a:ext cx="3547872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print() goes to stdout (JSON-RPC channel). Use logging to stderr instead.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0" y="1005840"/>
            <a:ext cx="4297680" cy="356616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36592" y="1115568"/>
            <a:ext cx="4005072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All primitives in one file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736592" y="1353312"/>
            <a:ext cx="4005072" cy="309067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json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mcp.server.fastmcp 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FastMCP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mcp.types 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Message, TextContent
</a:t>
            </a:r>
            <a:pPr indent="0" marL="0">
              <a:buNone/>
            </a:pPr>
            <a:r>
              <a:rPr lang="en-US" sz="1000" dirty="0">
                <a:solidFill>
                  <a:srgbClr val="E8884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mcp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= FastMCP(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"demo-server"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tool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add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(a: int, b: int) -&gt; str: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"""Add two numbers."""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f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"{a}+{b}={a+b}"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@mcp.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resource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"config://app"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</a:t>
            </a:r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config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 -&gt; str: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"""App config."""
</a:t>
            </a:r>
            <a:pPr indent="0" marL="0">
              <a:buNone/>
            </a:pPr>
            <a:r>
              <a:rPr lang="en-US" sz="1000" dirty="0">
                <a:solidFill>
                  <a:srgbClr val="CC88C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pPr indent="0" marL="0">
              <a:buNone/>
            </a:pPr>
            <a:r>
              <a:rPr lang="en-US" sz="100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'{"env":"prod"}'
</a:t>
            </a:r>
            <a:pPr indent="0" marL="0">
              <a:buNone/>
            </a:pPr>
            <a:r>
              <a:rPr lang="en-US" sz="100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See next slides for @mcp.prompt()
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__name__=="__main__":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mcp.run()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8B8E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run</a:t>
            </a:r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RUNNING &amp; CONNECTING — CLAUDE DESKTOP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Connecting to Claude Desktop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4183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claude_desktop_config.json — Claude Desktop auto-starts your server on launch.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61872"/>
            <a:ext cx="8229600" cy="3383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371600"/>
            <a:ext cx="7863840" cy="31638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macOS: ~/Library/Application Support/Claude/
</a:t>
            </a:r>
            <a:pPr indent="0" marL="0">
              <a:buNone/>
            </a:pPr>
            <a:r>
              <a:rPr lang="en-US" sz="1050" i="1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Windows: %APPDATA%/Claude/
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"mcpServers"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"demo-server"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"command"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"python"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"args"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[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"/abs/path/to/my_server.py"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  ],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"env"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{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"API_KEY"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"your-secret-key"</a:t>
            </a:r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      }
    }
  }
}
</a:t>
            </a:r>
            <a:pPr indent="0" marL="0">
              <a:buNone/>
            </a:pPr>
            <a:r>
              <a:rPr lang="en-US" sz="1050" i="1" dirty="0">
                <a:solidFill>
                  <a:srgbClr val="7A9D6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saving: restart Claude Desktop
</a:t>
            </a:r>
            <a:pPr indent="0" marL="0">
              <a:buNone/>
            </a:pPr>
            <a:r>
              <a:rPr lang="en-US" sz="1050" i="1" dirty="0">
                <a:solidFill>
                  <a:srgbClr val="A080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Hammer icon  = tools connected
</a:t>
            </a:r>
            <a:pPr indent="0" marL="0">
              <a:buNone/>
            </a:pPr>
            <a:r>
              <a:rPr lang="en-US" sz="1050" dirty="0">
                <a:solidFill>
                  <a:srgbClr val="A0C8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Try: 'What is 42 + 58?' to test add()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Tip: Always use absolute paths in args — relative paths fail (Claude sets a different cwd).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Lab Exercises — Build Your MCP Server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7043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170432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7043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2011680" y="126187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011680" y="162763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3 tools: add(), get_weather(), and one custom tool. Test each with mcp dev.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40487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2404872"/>
            <a:ext cx="1417320" cy="109728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40487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295351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min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011680" y="249631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&amp; Prompts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011680" y="286207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static config resource, a dynamic user/{id} resource, and code_review prompt.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639312"/>
            <a:ext cx="8229600" cy="1097280"/>
          </a:xfrm>
          <a:prstGeom prst="rect">
            <a:avLst/>
          </a:prstGeom>
          <a:solidFill>
            <a:srgbClr val="3A1A08"/>
          </a:solidFill>
          <a:ln w="9525">
            <a:solidFill>
              <a:srgbClr val="4A2C1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639312"/>
            <a:ext cx="1417320" cy="1097280"/>
          </a:xfrm>
          <a:prstGeom prst="rect">
            <a:avLst/>
          </a:prstGeom>
          <a:solidFill>
            <a:srgbClr val="CC5A1F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639312"/>
            <a:ext cx="141732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03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57200" y="4187952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min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011680" y="3730752"/>
            <a:ext cx="6400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&amp; Demo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2011680" y="4096512"/>
            <a:ext cx="6400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in claude_desktop_config.json. Test all tools in a live Claude conversation.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800600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C5A1F"/>
                </a:solidFill>
              </a:rPr>
              <a:t>Total: 70 min  ·  Work in pairs  ·  Trainer available  ·  Day 3 — MCP Fundamentals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5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CC5A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40233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C100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88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987552" y="1024128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MCP = one protocol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913632" y="1024128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MCP server works with Claude — no model-specific integration code.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1728216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1938528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3852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87552" y="1773936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Docstrings = descriptions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913632" y="1773936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function docstring is what Claude reads to understand your tool.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78024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688336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6883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87552" y="2523744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Tools act, resources read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913632" y="2523744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for writes and calls. Resources for context Claude should see.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57200" y="3227832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438144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4381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987552" y="3273552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Prompts = slash commands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913632" y="3273552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appear as /commands in Claude Desktop — name them verb-first.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977640"/>
            <a:ext cx="8229600" cy="0"/>
          </a:xfrm>
          <a:prstGeom prst="line">
            <a:avLst/>
          </a:prstGeom>
          <a:noFill/>
          <a:ln w="9525">
            <a:solidFill>
              <a:srgbClr val="E8D5B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4187952"/>
            <a:ext cx="384048" cy="384048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18795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87552" y="4023360"/>
            <a:ext cx="28346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C5A1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Absolute paths always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913632" y="4023360"/>
            <a:ext cx="489204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full paths in claude_desktop_config.json — relative paths fail.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4864608"/>
            <a:ext cx="80467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Ecosystem  ·  AI Training Series  ·  Day 3 — MCP Fundamentals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8503920" y="4864608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2C1A0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731520"/>
            <a:ext cx="2743200" cy="2743200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217920" y="2377440"/>
            <a:ext cx="3474720" cy="3474720"/>
          </a:xfrm>
          <a:prstGeom prst="ellipse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8229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080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91440" cy="1508760"/>
          </a:xfrm>
          <a:prstGeom prst="rect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170432"/>
            <a:ext cx="6400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Overnight</a:t>
            </a:r>
            <a:endParaRPr lang="en-US" sz="52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Challenge</a:t>
            </a:r>
            <a:endParaRPr lang="en-US" sz="5200" dirty="0"/>
          </a:p>
        </p:txBody>
      </p:sp>
      <p:sp>
        <p:nvSpPr>
          <p:cNvPr id="7" name="Shape 5"/>
          <p:cNvSpPr/>
          <p:nvPr/>
        </p:nvSpPr>
        <p:spPr>
          <a:xfrm>
            <a:off x="457200" y="29626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29077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5-tool MCP server for a domain you know well (finance, devops, writing)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57200" y="34198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33649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two dynamic resource templates with URI parameters and real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8770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1248" y="38221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Wrap every tool in a try/except so the server never crashes on bad input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334256"/>
            <a:ext cx="256032" cy="256032"/>
          </a:xfrm>
          <a:prstGeom prst="ellipse">
            <a:avLst/>
          </a:prstGeom>
          <a:solidFill>
            <a:srgbClr val="CC5A1F"/>
          </a:solidFill>
          <a:ln w="12700">
            <a:solidFill>
              <a:srgbClr val="CC5A1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279392"/>
            <a:ext cx="7498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to Claude Desktop and run a full demo in one conversation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0" y="4864608"/>
            <a:ext cx="9144000" cy="274320"/>
          </a:xfrm>
          <a:prstGeom prst="rect">
            <a:avLst/>
          </a:prstGeom>
          <a:solidFill>
            <a:srgbClr val="4A2C18"/>
          </a:solidFill>
          <a:ln w="12700">
            <a:solidFill>
              <a:srgbClr val="4A2C1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864608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8060"/>
                </a:solidFill>
              </a:rPr>
              <a:t>Claude Ecosystem  ·  AI Training Series  ·  Day 3 — MCP Fundamentals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– MCP Fundamentals</dc:title>
  <dc:subject>PptxGenJS Presentation</dc:subject>
  <dc:creator>PptxGenJS</dc:creator>
  <cp:lastModifiedBy>PptxGenJS</cp:lastModifiedBy>
  <cp:revision>1</cp:revision>
  <dcterms:created xsi:type="dcterms:W3CDTF">2026-05-12T04:12:26Z</dcterms:created>
  <dcterms:modified xsi:type="dcterms:W3CDTF">2026-05-12T04:12:26Z</dcterms:modified>
</cp:coreProperties>
</file>