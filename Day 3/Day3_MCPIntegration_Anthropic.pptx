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91440" cy="320040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749808"/>
            <a:ext cx="6217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3:</a:t>
            </a:r>
            <a:endParaRPr lang="en-US" sz="4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Integration</a:t>
            </a:r>
            <a:endParaRPr lang="en-US" sz="4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Orchestration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13232" y="413308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MCP to Claude API  ·  Multi-tool routing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calls  ·  State passing between tools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3 — MCP Integration + Orchestration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Cover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5727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MCP to Claude API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019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tools into the messages loop manually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188720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5727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— The Agent Loop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9019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tool calls, execute, return results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450592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50592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420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Multi-Tool Routing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31638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one user request to many MCP tools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450592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450592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5420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Tool Calls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1638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independent tools concurrently via asyncio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712464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712464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8039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40965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Passing Between Tools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44256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results forward through a tool chain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712464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3712464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8039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40965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Exercises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37760" y="44256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tools → loop → parallel → full pipeline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3 — MCP Integration + Orchestration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+ Orchestration — The Big Picture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402336"/>
          </a:xfrm>
          <a:prstGeom prst="rect">
            <a:avLst/>
          </a:prstGeom>
          <a:solidFill>
            <a:srgbClr val="3A1A08"/>
          </a:solidFill>
          <a:ln w="12700">
            <a:solidFill>
              <a:srgbClr val="3A1A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ALONE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08176"/>
            <a:ext cx="4114800" cy="2304288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9961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exposed but nothing calls them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0299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 loop — Claude can't reach the tools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560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configure Claude Desktop to connect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0906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for: Claude Desktop slash-commands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1005840"/>
            <a:ext cx="4114800" cy="402336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0584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+ CLAUDE API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1408176"/>
            <a:ext cx="4114800" cy="2304288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49961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control the full agent loop in Python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0299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Programmatically wire tools to any Claude call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560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any environment — no GUI needed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0906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for: pipelines, bots, production agents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85616"/>
            <a:ext cx="8229600" cy="62179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785616"/>
            <a:ext cx="64008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785616"/>
            <a:ext cx="7818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defines the protocol. Your Python loop is the orchestrator.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3 — MCP Integration + Orchestration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91440" cy="197510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53312"/>
            <a:ext cx="6217920" cy="197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Connecting MCP</a:t>
            </a:r>
            <a:endParaRPr lang="en-US" sz="5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Claude API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3232" y="34015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tools from your own Python code — no GUI required.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3 — MCP Integration + Orchestration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+ MCP — DECLARING TOOLS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Declaring MCP Tools for the Claude API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097280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schema format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1371600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expects tools as JSON schema dicts — name, description, input_schema.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38528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029968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matters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2304288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the description to decide when to call the tool. Be specific.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71216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71216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962656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schema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3236976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object: type, properties, required. Match your function signature.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03904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803904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895344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from MCP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4169664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mcp.list_tools() to fetch schemas from a running server automatically.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1005840"/>
            <a:ext cx="4297680" cy="356616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1115568"/>
            <a:ext cx="4005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Tool schema for Claude API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36592" y="1353312"/>
            <a:ext cx="4005072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[{
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"get_weather"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"description"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(
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"Get current weather for"
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 a city by name."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
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"input_schema"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
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"type"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"object"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"properties"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
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"city"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
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"type"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"string"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"description"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"City name"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            }
        },
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"required"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"city"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3 — MCP Integration + Orchestration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+ MCP — FIRST TOOL CALL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Calling Claude with MCP Tools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tools= to messages.create(). Claude returns tool_use blocks when it wants to act.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383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786384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anthropic
</a:t>
            </a:r>
            <a:pPr indent="0" marL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anthropic.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ask_with_tools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(user_msg: str) -&gt; list:
</a:t>
            </a:r>
            <a:pPr indent="0" marL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"""Send a message; return all content blocks."""
</a:t>
            </a:r>
            <a:pPr indent="0" marL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msgs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[{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"role"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:user_msg}]
</a:t>
            </a:r>
            <a:pPr indent="0" marL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client.messages.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model="claude-sonnet-4-20250514",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max_tokens=</a:t>
            </a:r>
            <a:pPr indent="0" marL="0">
              <a:buNone/>
            </a:pPr>
            <a:r>
              <a:rPr lang="en-US" sz="10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1024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tools=TOOLS,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messages=msgs)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resp.content
</a:t>
            </a:r>
            <a:pPr indent="0" marL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Inspect the response blocks
</a:t>
            </a:r>
            <a:pPr indent="0" marL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blocks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ask_with_tools(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 is the weather in Tokyo?"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blocks:
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(b.type, 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getattr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(b,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stop_reason=='tool_use' tells you Claude wants to call a tool — check it before parsing blocks.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3 — MCP Integration + Orchestration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91440" cy="197510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53312"/>
            <a:ext cx="6217920" cy="197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</a:t>
            </a:r>
            <a:endParaRPr lang="en-US" sz="5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3232" y="34015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tool_use blocks, execute each tool, return results.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3 — MCP Integration + Orchestration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 —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Designing the Agent Loop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572768" cy="749808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92808" y="1335024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57400" y="1005840"/>
            <a:ext cx="1572768" cy="749808"/>
          </a:xfrm>
          <a:prstGeom prst="rect">
            <a:avLst/>
          </a:prstGeom>
          <a:solidFill>
            <a:srgbClr val="CC5A1F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1005840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30168" y="1335024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1005840"/>
            <a:ext cx="1572768" cy="749808"/>
          </a:xfrm>
          <a:prstGeom prst="rect">
            <a:avLst/>
          </a:prstGeom>
          <a:solidFill>
            <a:srgbClr val="4A2C1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1005840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67528" y="1335024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32120" y="1005840"/>
            <a:ext cx="1572768" cy="749808"/>
          </a:xfrm>
          <a:prstGeom prst="rect">
            <a:avLst/>
          </a:prstGeom>
          <a:solidFill>
            <a:srgbClr val="CC5A1F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1005840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04888" y="1335024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69480" y="1005840"/>
            <a:ext cx="1572768" cy="749808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9480" y="1005840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181051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repeat until stop_reason == 'end_turn'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121408"/>
            <a:ext cx="4114800" cy="12070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121408"/>
            <a:ext cx="59436" cy="12070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121408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223113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tool_use blocks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" y="257860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each content block for type=='tool_use'. Extract name and input dict.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2121408"/>
            <a:ext cx="4114800" cy="12070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2121408"/>
            <a:ext cx="59436" cy="12070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2121408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223113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tool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65192" y="257860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your Python function (or MCP server) with block.input as kwargs.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474720"/>
            <a:ext cx="4114800" cy="12070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474720"/>
            <a:ext cx="59436" cy="12070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474720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35844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tool_result block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1792" y="393192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output in {type:'tool_result', tool_use_id:..., content:...}.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00600" y="3474720"/>
            <a:ext cx="4114800" cy="12070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0600" y="3474720"/>
            <a:ext cx="59436" cy="12070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0600" y="3474720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65192" y="35844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and loop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965192" y="393192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assistant + tool_result turns to messages. Send again. Repeat.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3 — MCP Integration + Orchestration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 — IMPLEMENTATION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 Loop in Python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tools, append results, loop until Claude returns end_turn — no more tool calls.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383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786384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run_agent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(user_msg: str) -&gt; str:
</a:t>
            </a:r>
            <a:pPr indent="0" marL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msgs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[{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"role"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:user_msg}]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True:
</a:t>
            </a:r>
            <a:pPr indent="0" marL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resp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client.messages.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model="claude-sonnet-4-20250514",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max_tokens=</a:t>
            </a:r>
            <a:pPr indent="0" marL="0">
              <a:buNone/>
            </a:pPr>
            <a:r>
              <a:rPr lang="en-US" sz="10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1024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tools=TOOLS, messages=msgs)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msgs.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"role"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"assistant"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:resp.content})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resp.stop_reason != 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"tool_use"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break
</a:t>
            </a:r>
            <a:pPr indent="0" marL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results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[]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resp.content: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b.type == 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"tool_use"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pPr indent="0" marL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out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TOOL_FNS[b.name](**b.input)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results.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"tool_result"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"tool_use_id"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:b.id,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:str(out)})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msgs.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"role"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:results})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next(b.text for b in resp.content if b.type==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"text"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TOOL_FNS is a dict mapping tool name → Python callable. Add new tools by inserting one entry.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3 — MCP Integration + Orchestration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91440" cy="197510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53312"/>
            <a:ext cx="6217920" cy="197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Multi-Tool</a:t>
            </a:r>
            <a:endParaRPr lang="en-US" sz="5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Routing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3232" y="34015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 request fans out to multiple specialist tools.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3 — MCP Integration + Orchestration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MULTI-TOOL ROUTING —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Multi-Tool Routing Patterns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1005840"/>
            <a:ext cx="2697480" cy="402336"/>
          </a:xfrm>
          <a:prstGeom prst="rect">
            <a:avLst/>
          </a:prstGeom>
          <a:solidFill>
            <a:srgbClr val="3A1A08"/>
          </a:solidFill>
          <a:ln w="12700">
            <a:solidFill>
              <a:srgbClr val="3A1A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00584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408176"/>
            <a:ext cx="2697480" cy="329184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536192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 → Tool 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1792224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of A feeds 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95144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322576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" y="2578608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depend on prior results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81528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3108960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" y="3364992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→ summarise → email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67912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3895344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6072" y="4151376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adds up per step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82112" y="1005840"/>
            <a:ext cx="2697480" cy="402336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82112" y="100584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82112" y="1408176"/>
            <a:ext cx="2697480" cy="329184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1508760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0712" y="1536192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and B at once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10712" y="1792224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tasks, same turn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0" y="2295144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0712" y="2322576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10712" y="2578608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share no dependencies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3081528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10712" y="3108960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10712" y="3364992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+ news + calendar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91840" y="3867912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0712" y="3895344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410712" y="4151376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time = slowest tool only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16752" y="1005840"/>
            <a:ext cx="2697480" cy="402336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16752" y="100584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16752" y="1408176"/>
            <a:ext cx="2697480" cy="329184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0" y="1508760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45352" y="1536192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on result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45352" y="1792224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based on Tool A output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26480" y="2295144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45352" y="2322576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245352" y="2578608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tool depends on first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26480" y="3081528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45352" y="3108960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245352" y="3364992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→ route to specialist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126480" y="3867912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45352" y="3895344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245352" y="4151376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unnecessary tool calls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3 — MCP Integration + Orchestration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MULTI-TOOL ROUTING — REGISTRY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the Tool Registry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tool names to callables and schemas. Add a new tool by inserting one dict.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383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25880"/>
            <a:ext cx="7863840" cy="3209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httpx
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Tool functions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get_weather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(city: str) -&gt; str: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= httpx.get("wttr.in",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params={"city":city,"format":</a:t>
            </a:r>
            <a:pPr indent="0" marL="0">
              <a:buNone/>
            </a:pPr>
            <a:r>
              <a:rPr lang="en-US" sz="100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r.text.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add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(a: int, b: int) -&gt; str: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"{a}+{b}={a+b}"
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Registry
</a:t>
            </a:r>
            <a:pPr indent="0" marL="0">
              <a:buNone/>
            </a:pP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TOOL_FNS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"get_weather"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get_weather,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"add"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: add,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Execute tool by name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call_tool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(name: str, inputs: dict) -&gt; str: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 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in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TOOL_FNS: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"Unknown tool: {name}"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str(TOOL_FNS[name](**inputs))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Always guard with 'if name not in TOOL_FNS' — Claude can hallucinate tool names.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3 — MCP Integration + Orchestration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91440" cy="197510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53312"/>
            <a:ext cx="6217920" cy="197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Parallel</a:t>
            </a:r>
            <a:endParaRPr lang="en-US" sz="5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Calls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3232" y="34015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independent tools concurrently — cut wait time.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3 — MCP Integration + Orchestration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TOOL CALLS — IMPLEMENTATION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Parallel Tool Execution with asyncio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Claude returns multiple tool_use blocks in one response, run them all at once.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383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786384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asyncio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def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call_tool_async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(name: str, inputs: dict) -&gt; dict:
</a:t>
            </a:r>
            <a:pPr indent="0" marL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"""Run one tool; return tool_result block."""
</a:t>
            </a:r>
            <a:pPr indent="0" marL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ASYNC_FNS.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(name, TOOL_FNS.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(name))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fn 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None: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"tool_result"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"unknown"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pPr indent="0" marL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await fn(**inputs) 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asyncio.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iscoroutinefunction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(fn) 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fn(**inputs)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"tool_result"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:str(out)}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def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run_tools_parallel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(blocks) -&gt; list:
</a:t>
            </a:r>
            <a:pPr indent="0" marL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"""Execute all tool_use blocks at once."""
</a:t>
            </a:r>
            <a:pPr indent="0" marL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coros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call_tool_async(b.name, b.input)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blocks 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b.type == 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"tool_use"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await asyncio.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gather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(*coros)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Wall-clock time = slowest single tool, not sum of all tools. Parallelize whenever possible.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3 — MCP Integration + Orchestration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91440" cy="197510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53312"/>
            <a:ext cx="6217920" cy="197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Passing</a:t>
            </a:r>
            <a:endParaRPr lang="en-US" sz="5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Between Tools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3232" y="34015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outputs forward through a structured tool chain.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3 — MCP Integration + Orchestration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PASSING — DESIGN PATTERNS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Passing State Between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097280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conversation history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1371600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results flow back as user messages — Claude sees all prior outputs next turn.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38528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029968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into tool input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2304288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 value from Tool A's result; pass it explicitly into Tool B's input.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71216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71216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962656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shared state dict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3236976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state dict in Python; tools read and write named slots in it.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03904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803904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895344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structured 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4169664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tools return JSON strings — easy to parse and forward to the next tool.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1005840"/>
            <a:ext cx="4297680" cy="356616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1115568"/>
            <a:ext cx="4005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Shared state pattern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36592" y="1353312"/>
            <a:ext cx="4005072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dataclasses 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dataclass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@dataclass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PipelineState:
</a:t>
            </a:r>
            <a:pPr indent="0" marL="0">
              <a:buNone/>
            </a:pP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city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str = 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weather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str = 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summary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str = 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Tools write to shared state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fetch_weather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(state: PipelineState):
</a:t>
            </a:r>
            <a:pPr indent="0" marL="0">
              <a:buNone/>
            </a:pP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state.weather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get_weather(state.city)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state.weather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summarise_weather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(state: PipelineState):
</a:t>
            </a:r>
            <a:pPr indent="0" marL="0">
              <a:buNone/>
            </a:pP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state.summary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call_claude(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"Summarise: "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+ state.weather)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state.summary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3 — MCP Integration + Orchestration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— FULL PIPELINE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MCP + Orchestration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async agent loop with parallel tools and shared state into one clean function.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383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786384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def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run_pipeline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(user_msg: str) -&gt; str:
</a:t>
            </a:r>
            <a:pPr indent="0" marL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PipelineState()
</a:t>
            </a:r>
            <a:pPr indent="0" marL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msgs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[{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"role"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:user_msg}]
</a:t>
            </a:r>
            <a:pPr indent="0" marL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turn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0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turn &lt; MAX_TURNS:
</a:t>
            </a:r>
            <a:pPr indent="0" marL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turn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+= </a:t>
            </a:r>
            <a:pPr indent="0" marL="0">
              <a:buNone/>
            </a:pPr>
            <a:r>
              <a:rPr lang="en-US" sz="10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resp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client.messages.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model="claude-sonnet-4-20250514",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max_tokens=</a:t>
            </a:r>
            <a:pPr indent="0" marL="0">
              <a:buNone/>
            </a:pPr>
            <a:r>
              <a:rPr lang="en-US" sz="10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2048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tools=TOOLS,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messages=msgs)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msgs.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"role"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"assistant"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:resp.content})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resp.stop_reason != 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"tool_use"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break
</a:t>
            </a:r>
            <a:pPr indent="0" marL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Parallel: all tool calls at once
</a:t>
            </a:r>
            <a:pPr indent="0" marL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results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await run_tools_parallel(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resp.content)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msgs.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"role"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:results})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next(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b.text 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resp.content 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b.type==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"text"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asyncio.gather() latency = slowest tool. Sequential loop latency = sum of all tools.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3 — MCP Integration + Orchestration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PRODUCTION PATTERNS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Production-Ready Integration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097280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the loop iterations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1371600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MAX_TURNS=10. If the loop runs over, return partial results — never infinite loop.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38528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029968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every tool call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2304288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asyncio.wait_for(coro, timeout=30) kills stalled tools before they block the loop.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71216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71216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962656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tool inputs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3236976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required fields in b.input before calling. Return error string on bad input.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03904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803904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895344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tool call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4169664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name, input, output, and duration. Essential for debugging agentic failures.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1005840"/>
            <a:ext cx="4297680" cy="356616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1115568"/>
            <a:ext cx="4005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Guarded agent loop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36592" y="1353312"/>
            <a:ext cx="4005072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MAX_TURNS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def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safe_call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(name, inputs, timeout=</a:t>
            </a:r>
            <a:pPr indent="0" marL="0">
              <a:buNone/>
            </a:pPr>
            <a:r>
              <a:rPr lang="en-US" sz="100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await asyncio.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wait_for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call_tool_async(name, inputs),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timeout=timeout)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asyncio.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TimeoutError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"tool_result"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"content"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"timeout"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Guard the main loop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turn 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range(MAX_TURNS):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agent loop body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"[MAX_TURNS reached]"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3 — MCP Integration + Orchestration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Exercises — Wire MCP to Claude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70432"/>
            <a:ext cx="1417320" cy="1097280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126187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Tool Loop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011680" y="1627632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run_agent() with get_weather. Test: 'Weather in Paris?' — verify tool is called.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04872"/>
            <a:ext cx="82296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04872"/>
            <a:ext cx="1417320" cy="1097280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04872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95351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49631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Multi-Tool + Registry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011680" y="2862072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add() and word_count() to TOOL_FNS. Ask Claude to use all 3 in one conversation.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39312"/>
            <a:ext cx="82296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639312"/>
            <a:ext cx="1417320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39312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18795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373075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+ State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011680" y="4096512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to run_tools_parallel() with asyncio. Add PipelineState. Measure latency vs sequential.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5A1F"/>
                </a:solidFill>
              </a:rPr>
              <a:t>Total: 70 min  ·  Work in pairs  ·  Trainer available  ·  Day 3 — MCP Integration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87552" y="1024128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msgs pre-assigned always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13632" y="1024128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messages list before create(). Never inline [{...}] inside the call.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28216"/>
            <a:ext cx="8229600" cy="0"/>
          </a:xfrm>
          <a:prstGeom prst="line">
            <a:avLst/>
          </a:prstGeom>
          <a:noFill/>
          <a:ln w="9525">
            <a:solidFill>
              <a:srgbClr val="E8D5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38528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87552" y="1773936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 until end_turn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13632" y="1773936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stop_reason=='tool_use': execute tools, append results, call again.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478024"/>
            <a:ext cx="8229600" cy="0"/>
          </a:xfrm>
          <a:prstGeom prst="line">
            <a:avLst/>
          </a:prstGeom>
          <a:noFill/>
          <a:ln w="9525">
            <a:solidFill>
              <a:srgbClr val="E8D5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88336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7552" y="2523744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Parallel = asyncio.gather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13632" y="2523744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all tool_use blocks in one gather() call — wall time = slowest, not sum.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27832"/>
            <a:ext cx="8229600" cy="0"/>
          </a:xfrm>
          <a:prstGeom prst="line">
            <a:avLst/>
          </a:prstGeom>
          <a:noFill/>
          <a:ln w="9525">
            <a:solidFill>
              <a:srgbClr val="E8D5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438144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7552" y="3273552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lives in Python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13632" y="3273552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dataclass for shared state. Tools read/write it — Claude sees results.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977640"/>
            <a:ext cx="8229600" cy="0"/>
          </a:xfrm>
          <a:prstGeom prst="line">
            <a:avLst/>
          </a:prstGeom>
          <a:noFill/>
          <a:ln w="9525">
            <a:solidFill>
              <a:srgbClr val="E8D5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187952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87552" y="402336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 the loop, log all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13632" y="4023360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set MAX_TURNS. Log every tool name, input, output, and duration.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3 — MCP Integration + Orchestration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91440" cy="150876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170432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Overnight</a:t>
            </a:r>
            <a:endParaRPr lang="en-US" sz="5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457200" y="2962656"/>
            <a:ext cx="256032" cy="256032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9077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4-tool pipeline: search → summarise → translate → email draft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419856"/>
            <a:ext cx="256032" cy="256032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3649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PipelineState with city, weather, summary, and draft fields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877056"/>
            <a:ext cx="256032" cy="256032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8221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every tool in safe_call() with a 30-second timeout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334256"/>
            <a:ext cx="256032" cy="256032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2793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sequential vs parallel latency and report the difference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Claude Ecosystem  ·  AI Training Series  ·  Day 3 — MCP Integration + Orchestration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 – MCP Integration + Orchestration</dc:title>
  <dc:subject>PptxGenJS Presentation</dc:subject>
  <dc:creator>PptxGenJS</dc:creator>
  <cp:lastModifiedBy>PptxGenJS</cp:lastModifiedBy>
  <cp:revision>1</cp:revision>
  <dcterms:created xsi:type="dcterms:W3CDTF">2026-05-12T05:40:45Z</dcterms:created>
  <dcterms:modified xsi:type="dcterms:W3CDTF">2026-05-12T05:40:45Z</dcterms:modified>
</cp:coreProperties>
</file>